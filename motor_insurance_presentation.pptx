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3" r:id="rId10"/>
    <p:sldId id="262" r:id="rId11"/>
    <p:sldId id="270" r:id="rId12"/>
    <p:sldId id="271" r:id="rId13"/>
    <p:sldId id="272" r:id="rId14"/>
    <p:sldId id="273" r:id="rId15"/>
    <p:sldId id="274" r:id="rId16"/>
    <p:sldId id="266" r:id="rId17"/>
    <p:sldId id="275" r:id="rId18"/>
    <p:sldId id="268" r:id="rId19"/>
    <p:sldId id="269" r:id="rId2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547813" y="1276350"/>
            <a:ext cx="6908800" cy="812006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7813" y="2195513"/>
            <a:ext cx="6913562" cy="131445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3919"/>
            <a:ext cx="2133600" cy="357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3919"/>
            <a:ext cx="2895600" cy="357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3919"/>
            <a:ext cx="2133600" cy="357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A3D971-BD08-4105-986D-4E62801DB796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AEB82A-E188-4EC3-A976-6ACB2D5576C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</p:spPr>
        <p:txBody>
          <a:bodyPr/>
          <a:lstStyle>
            <a:lvl1pPr marL="0" indent="0">
              <a:buNone/>
              <a:defRPr sz="1800"/>
            </a:lvl1pPr>
            <a:lvl2pPr marL="342900" indent="0">
              <a:buNone/>
              <a:defRPr sz="1500"/>
            </a:lvl2pPr>
            <a:lvl3pPr marL="685800" indent="0">
              <a:buNone/>
              <a:defRPr sz="135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AEB82A-E188-4EC3-A976-6ACB2D5576C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881063"/>
            <a:ext cx="4038600" cy="37147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81063"/>
            <a:ext cx="4038600" cy="37147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AEB82A-E188-4EC3-A976-6ACB2D5576C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273844"/>
            <a:ext cx="7886700" cy="9941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260872"/>
            <a:ext cx="3868737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1878806"/>
            <a:ext cx="3868737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788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788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AEB82A-E188-4EC3-A976-6ACB2D5576C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AEB82A-E188-4EC3-A976-6ACB2D5576C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AEB82A-E188-4EC3-A976-6ACB2D5576C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AEB82A-E188-4EC3-A976-6ACB2D5576C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740569"/>
            <a:ext cx="4629150" cy="3655219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AEB82A-E188-4EC3-A976-6ACB2D5576C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AEB82A-E188-4EC3-A976-6ACB2D5576C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2875"/>
            <a:ext cx="2057400" cy="44529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2875"/>
            <a:ext cx="6019800" cy="44529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AEB82A-E188-4EC3-A976-6ACB2D5576C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8" Type="http://schemas.openxmlformats.org/officeDocument/2006/relationships/theme" Target="../theme/theme1.xml"/><Relationship Id="rId27" Type="http://schemas.openxmlformats.org/officeDocument/2006/relationships/image" Target="../media/image2.jpeg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3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-6350" y="0"/>
            <a:ext cx="915035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42875"/>
            <a:ext cx="8229600" cy="43696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881063"/>
            <a:ext cx="8229600" cy="37147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3919"/>
            <a:ext cx="2133600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05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3919"/>
            <a:ext cx="2895600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05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3919"/>
            <a:ext cx="2133600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05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AEB82A-E188-4EC3-A976-6ACB2D5576C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257175" indent="-257175" algn="l" rtl="0" fontAlgn="base">
        <a:spcBef>
          <a:spcPct val="15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3995" algn="l" rtl="0" fontAlgn="base">
        <a:spcBef>
          <a:spcPct val="15000"/>
        </a:spcBef>
        <a:spcAft>
          <a:spcPct val="0"/>
        </a:spcAft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fontAlgn="base">
        <a:spcBef>
          <a:spcPct val="15000"/>
        </a:spcBef>
        <a:spcAft>
          <a:spcPct val="0"/>
        </a:spcAft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fontAlgn="base">
        <a:spcBef>
          <a:spcPct val="15000"/>
        </a:spcBef>
        <a:spcAft>
          <a:spcPct val="0"/>
        </a:spcAft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fontAlgn="base">
        <a:spcBef>
          <a:spcPct val="15000"/>
        </a:spcBef>
        <a:spcAft>
          <a:spcPct val="0"/>
        </a:spcAft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6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3" Type="http://schemas.openxmlformats.org/officeDocument/2006/relationships/notesSlide" Target="../notesSlides/notesSlide2.xml"/><Relationship Id="rId32" Type="http://schemas.openxmlformats.org/officeDocument/2006/relationships/slideLayout" Target="../slideLayouts/slideLayout25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image" Target="../media/image8.png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7" Type="http://schemas.openxmlformats.org/officeDocument/2006/relationships/notesSlide" Target="../notesSlides/notesSlide4.xml"/><Relationship Id="rId26" Type="http://schemas.openxmlformats.org/officeDocument/2006/relationships/slideLayout" Target="../slideLayouts/slideLayout23.xml"/><Relationship Id="rId25" Type="http://schemas.openxmlformats.org/officeDocument/2006/relationships/tags" Target="../tags/tag50.xml"/><Relationship Id="rId24" Type="http://schemas.openxmlformats.org/officeDocument/2006/relationships/tags" Target="../tags/tag49.xml"/><Relationship Id="rId23" Type="http://schemas.openxmlformats.org/officeDocument/2006/relationships/image" Target="../media/image11.png"/><Relationship Id="rId22" Type="http://schemas.openxmlformats.org/officeDocument/2006/relationships/tags" Target="../tags/tag48.xml"/><Relationship Id="rId21" Type="http://schemas.openxmlformats.org/officeDocument/2006/relationships/tags" Target="../tags/tag47.xml"/><Relationship Id="rId20" Type="http://schemas.openxmlformats.org/officeDocument/2006/relationships/tags" Target="../tags/tag46.xml"/><Relationship Id="rId2" Type="http://schemas.openxmlformats.org/officeDocument/2006/relationships/tags" Target="../tags/tag31.xml"/><Relationship Id="rId19" Type="http://schemas.openxmlformats.org/officeDocument/2006/relationships/tags" Target="../tags/tag45.xml"/><Relationship Id="rId18" Type="http://schemas.openxmlformats.org/officeDocument/2006/relationships/tags" Target="../tags/tag44.xml"/><Relationship Id="rId17" Type="http://schemas.openxmlformats.org/officeDocument/2006/relationships/image" Target="../media/image10.png"/><Relationship Id="rId16" Type="http://schemas.openxmlformats.org/officeDocument/2006/relationships/tags" Target="../tags/tag43.xml"/><Relationship Id="rId15" Type="http://schemas.openxmlformats.org/officeDocument/2006/relationships/tags" Target="../tags/tag42.xml"/><Relationship Id="rId14" Type="http://schemas.openxmlformats.org/officeDocument/2006/relationships/tags" Target="../tags/tag41.xml"/><Relationship Id="rId13" Type="http://schemas.openxmlformats.org/officeDocument/2006/relationships/tags" Target="../tags/tag40.xml"/><Relationship Id="rId12" Type="http://schemas.openxmlformats.org/officeDocument/2006/relationships/tags" Target="../tags/tag39.xml"/><Relationship Id="rId11" Type="http://schemas.openxmlformats.org/officeDocument/2006/relationships/image" Target="../media/image9.png"/><Relationship Id="rId10" Type="http://schemas.openxmlformats.org/officeDocument/2006/relationships/tags" Target="../tags/tag38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1.xml"/><Relationship Id="rId2" Type="http://schemas.openxmlformats.org/officeDocument/2006/relationships/image" Target="../media/image12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58.xml"/><Relationship Id="rId8" Type="http://schemas.openxmlformats.org/officeDocument/2006/relationships/tags" Target="../tags/tag57.xml"/><Relationship Id="rId7" Type="http://schemas.openxmlformats.org/officeDocument/2006/relationships/tags" Target="../tags/tag56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18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66.xml"/><Relationship Id="rId8" Type="http://schemas.openxmlformats.org/officeDocument/2006/relationships/tags" Target="../tags/tag65.xml"/><Relationship Id="rId7" Type="http://schemas.openxmlformats.org/officeDocument/2006/relationships/tags" Target="../tags/tag64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6" Type="http://schemas.openxmlformats.org/officeDocument/2006/relationships/notesSlide" Target="../notesSlides/notesSlide8.xml"/><Relationship Id="rId15" Type="http://schemas.openxmlformats.org/officeDocument/2006/relationships/slideLayout" Target="../slideLayouts/slideLayout20.xml"/><Relationship Id="rId14" Type="http://schemas.openxmlformats.org/officeDocument/2006/relationships/image" Target="../media/image13.png"/><Relationship Id="rId13" Type="http://schemas.openxmlformats.org/officeDocument/2006/relationships/tags" Target="../tags/tag70.xml"/><Relationship Id="rId12" Type="http://schemas.openxmlformats.org/officeDocument/2006/relationships/tags" Target="../tags/tag69.xml"/><Relationship Id="rId11" Type="http://schemas.openxmlformats.org/officeDocument/2006/relationships/tags" Target="../tags/tag68.xml"/><Relationship Id="rId10" Type="http://schemas.openxmlformats.org/officeDocument/2006/relationships/tags" Target="../tags/tag67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tags" Target="../tags/tag72.xml"/><Relationship Id="rId2" Type="http://schemas.openxmlformats.org/officeDocument/2006/relationships/image" Target="../media/image14.png"/><Relationship Id="rId1" Type="http://schemas.openxmlformats.org/officeDocument/2006/relationships/tags" Target="../tags/tag7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15.png"/><Relationship Id="rId1" Type="http://schemas.openxmlformats.org/officeDocument/2006/relationships/tags" Target="../tags/tag7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16.png"/><Relationship Id="rId1" Type="http://schemas.openxmlformats.org/officeDocument/2006/relationships/tags" Target="../tags/tag7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17.png"/><Relationship Id="rId1" Type="http://schemas.openxmlformats.org/officeDocument/2006/relationships/tags" Target="../tags/tag7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18.png"/><Relationship Id="rId1" Type="http://schemas.openxmlformats.org/officeDocument/2006/relationships/tags" Target="../tags/tag76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84.xml"/><Relationship Id="rId8" Type="http://schemas.openxmlformats.org/officeDocument/2006/relationships/tags" Target="../tags/tag83.xml"/><Relationship Id="rId7" Type="http://schemas.openxmlformats.org/officeDocument/2006/relationships/tags" Target="../tags/tag82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5" Type="http://schemas.openxmlformats.org/officeDocument/2006/relationships/notesSlide" Target="../notesSlides/notesSlide9.xml"/><Relationship Id="rId14" Type="http://schemas.openxmlformats.org/officeDocument/2006/relationships/slideLayout" Target="../slideLayouts/slideLayout15.xml"/><Relationship Id="rId13" Type="http://schemas.openxmlformats.org/officeDocument/2006/relationships/image" Target="../media/image21.png"/><Relationship Id="rId12" Type="http://schemas.openxmlformats.org/officeDocument/2006/relationships/image" Target="../media/image20.png"/><Relationship Id="rId11" Type="http://schemas.openxmlformats.org/officeDocument/2006/relationships/tags" Target="../tags/tag86.xml"/><Relationship Id="rId10" Type="http://schemas.openxmlformats.org/officeDocument/2006/relationships/tags" Target="../tags/tag85.xml"/><Relationship Id="rId1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5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9.png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1463040"/>
            <a:ext cx="84124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highlight>
                  <a:srgbClr val="000000"/>
                </a:highlight>
              </a:rPr>
              <a:t>Motor Insurance</a:t>
            </a:r>
            <a:endParaRPr lang="en-US" sz="4000" b="1" dirty="0"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  <p:sp>
        <p:nvSpPr>
          <p:cNvPr id="6" name="Text 3"/>
          <p:cNvSpPr/>
          <p:nvPr/>
        </p:nvSpPr>
        <p:spPr>
          <a:xfrm>
            <a:off x="365760" y="2194560"/>
            <a:ext cx="8412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02C39A"/>
                </a:solidFill>
              </a:rPr>
              <a:t>Database Management System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3017520"/>
            <a:ext cx="4754880" cy="1737360"/>
          </a:xfrm>
          <a:prstGeom prst="rect">
            <a:avLst/>
          </a:prstGeom>
          <a:solidFill>
            <a:srgbClr val="0D2A4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3108960"/>
            <a:ext cx="4389120" cy="1554480"/>
          </a:xfrm>
          <a:prstGeom prst="rect">
            <a:avLst/>
          </a:prstGeom>
          <a:noFill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</a:rPr>
              <a:t>Database Systems Project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Name: AHABWE CEDRIC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RegNo: 2025/BCS/001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Group: 7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Date: 5th May 2026</a:t>
            </a:r>
            <a:endParaRPr lang="en-US" sz="1600" dirty="0"/>
          </a:p>
        </p:txBody>
      </p:sp>
      <p:sp>
        <p:nvSpPr>
          <p:cNvPr id="9" name="Text Box 8"/>
          <p:cNvSpPr txBox="1"/>
          <p:nvPr/>
        </p:nvSpPr>
        <p:spPr>
          <a:xfrm>
            <a:off x="658495" y="180340"/>
            <a:ext cx="2188210" cy="12636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GB" alt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660" y="40640"/>
            <a:ext cx="1562100" cy="15430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972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0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Agenda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>
            <p:custDataLst>
              <p:tags r:id="rId2"/>
            </p:custDataLst>
          </p:nvPr>
        </p:nvSpPr>
        <p:spPr>
          <a:xfrm>
            <a:off x="320040" y="960120"/>
            <a:ext cx="4114800" cy="10515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>
            <p:custDataLst>
              <p:tags r:id="rId3"/>
            </p:custDataLst>
          </p:nvPr>
        </p:nvSpPr>
        <p:spPr>
          <a:xfrm>
            <a:off x="320040" y="960120"/>
            <a:ext cx="54864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Shape 5"/>
          <p:cNvSpPr/>
          <p:nvPr>
            <p:custDataLst>
              <p:tags r:id="rId4"/>
            </p:custDataLst>
          </p:nvPr>
        </p:nvSpPr>
        <p:spPr>
          <a:xfrm>
            <a:off x="457200" y="1188720"/>
            <a:ext cx="502920" cy="502920"/>
          </a:xfrm>
          <a:prstGeom prst="ellipse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9" name="Text 6"/>
          <p:cNvSpPr/>
          <p:nvPr>
            <p:custDataLst>
              <p:tags r:id="rId5"/>
            </p:custDataLst>
          </p:nvPr>
        </p:nvSpPr>
        <p:spPr>
          <a:xfrm>
            <a:off x="457200" y="11887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0" name="Text 7"/>
          <p:cNvSpPr/>
          <p:nvPr>
            <p:custDataLst>
              <p:tags r:id="rId6"/>
            </p:custDataLst>
          </p:nvPr>
        </p:nvSpPr>
        <p:spPr>
          <a:xfrm>
            <a:off x="1069848" y="960120"/>
            <a:ext cx="320040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Project Selection</a:t>
            </a:r>
            <a:endParaRPr lang="en-US" sz="1400" dirty="0"/>
          </a:p>
        </p:txBody>
      </p:sp>
      <p:sp>
        <p:nvSpPr>
          <p:cNvPr id="11" name="Shape 8"/>
          <p:cNvSpPr/>
          <p:nvPr>
            <p:custDataLst>
              <p:tags r:id="rId7"/>
            </p:custDataLst>
          </p:nvPr>
        </p:nvSpPr>
        <p:spPr>
          <a:xfrm>
            <a:off x="4754880" y="960120"/>
            <a:ext cx="4114800" cy="10515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>
            <p:custDataLst>
              <p:tags r:id="rId8"/>
            </p:custDataLst>
          </p:nvPr>
        </p:nvSpPr>
        <p:spPr>
          <a:xfrm>
            <a:off x="4754880" y="960120"/>
            <a:ext cx="54864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10"/>
          <p:cNvSpPr/>
          <p:nvPr>
            <p:custDataLst>
              <p:tags r:id="rId9"/>
            </p:custDataLst>
          </p:nvPr>
        </p:nvSpPr>
        <p:spPr>
          <a:xfrm>
            <a:off x="4892040" y="1188720"/>
            <a:ext cx="502920" cy="502920"/>
          </a:xfrm>
          <a:prstGeom prst="ellipse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10"/>
            </p:custDataLst>
          </p:nvPr>
        </p:nvSpPr>
        <p:spPr>
          <a:xfrm>
            <a:off x="4892040" y="11887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5" name="Text 12"/>
          <p:cNvSpPr/>
          <p:nvPr>
            <p:custDataLst>
              <p:tags r:id="rId11"/>
            </p:custDataLst>
          </p:nvPr>
        </p:nvSpPr>
        <p:spPr>
          <a:xfrm>
            <a:off x="5504688" y="960120"/>
            <a:ext cx="320040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Business Case</a:t>
            </a:r>
            <a:endParaRPr lang="en-US" sz="1400" dirty="0"/>
          </a:p>
        </p:txBody>
      </p:sp>
      <p:sp>
        <p:nvSpPr>
          <p:cNvPr id="16" name="Shape 13"/>
          <p:cNvSpPr/>
          <p:nvPr>
            <p:custDataLst>
              <p:tags r:id="rId12"/>
            </p:custDataLst>
          </p:nvPr>
        </p:nvSpPr>
        <p:spPr>
          <a:xfrm>
            <a:off x="320040" y="2194560"/>
            <a:ext cx="4114800" cy="10515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>
            <p:custDataLst>
              <p:tags r:id="rId13"/>
            </p:custDataLst>
          </p:nvPr>
        </p:nvSpPr>
        <p:spPr>
          <a:xfrm>
            <a:off x="320040" y="2194560"/>
            <a:ext cx="54864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Shape 15"/>
          <p:cNvSpPr/>
          <p:nvPr>
            <p:custDataLst>
              <p:tags r:id="rId14"/>
            </p:custDataLst>
          </p:nvPr>
        </p:nvSpPr>
        <p:spPr>
          <a:xfrm>
            <a:off x="457200" y="2423160"/>
            <a:ext cx="502920" cy="502920"/>
          </a:xfrm>
          <a:prstGeom prst="ellipse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19" name="Text 16"/>
          <p:cNvSpPr/>
          <p:nvPr>
            <p:custDataLst>
              <p:tags r:id="rId15"/>
            </p:custDataLst>
          </p:nvPr>
        </p:nvSpPr>
        <p:spPr>
          <a:xfrm>
            <a:off x="457200" y="24231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0" name="Text 17"/>
          <p:cNvSpPr/>
          <p:nvPr>
            <p:custDataLst>
              <p:tags r:id="rId16"/>
            </p:custDataLst>
          </p:nvPr>
        </p:nvSpPr>
        <p:spPr>
          <a:xfrm>
            <a:off x="1069848" y="2194560"/>
            <a:ext cx="320040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Database Design</a:t>
            </a:r>
            <a:endParaRPr lang="en-US" sz="1400" dirty="0"/>
          </a:p>
        </p:txBody>
      </p:sp>
      <p:sp>
        <p:nvSpPr>
          <p:cNvPr id="21" name="Shape 18"/>
          <p:cNvSpPr/>
          <p:nvPr>
            <p:custDataLst>
              <p:tags r:id="rId17"/>
            </p:custDataLst>
          </p:nvPr>
        </p:nvSpPr>
        <p:spPr>
          <a:xfrm>
            <a:off x="4754880" y="2194560"/>
            <a:ext cx="4114800" cy="10515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>
            <p:custDataLst>
              <p:tags r:id="rId18"/>
            </p:custDataLst>
          </p:nvPr>
        </p:nvSpPr>
        <p:spPr>
          <a:xfrm>
            <a:off x="4754880" y="2194560"/>
            <a:ext cx="54864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Shape 20"/>
          <p:cNvSpPr/>
          <p:nvPr>
            <p:custDataLst>
              <p:tags r:id="rId19"/>
            </p:custDataLst>
          </p:nvPr>
        </p:nvSpPr>
        <p:spPr>
          <a:xfrm>
            <a:off x="4892040" y="2423160"/>
            <a:ext cx="502920" cy="502920"/>
          </a:xfrm>
          <a:prstGeom prst="ellipse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24" name="Text 21"/>
          <p:cNvSpPr/>
          <p:nvPr>
            <p:custDataLst>
              <p:tags r:id="rId20"/>
            </p:custDataLst>
          </p:nvPr>
        </p:nvSpPr>
        <p:spPr>
          <a:xfrm>
            <a:off x="4892040" y="24231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5" name="Text 22"/>
          <p:cNvSpPr/>
          <p:nvPr>
            <p:custDataLst>
              <p:tags r:id="rId21"/>
            </p:custDataLst>
          </p:nvPr>
        </p:nvSpPr>
        <p:spPr>
          <a:xfrm>
            <a:off x="5504688" y="2194560"/>
            <a:ext cx="320040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Implementation</a:t>
            </a:r>
            <a:endParaRPr lang="en-US" sz="1400" dirty="0"/>
          </a:p>
        </p:txBody>
      </p:sp>
      <p:sp>
        <p:nvSpPr>
          <p:cNvPr id="26" name="Shape 23"/>
          <p:cNvSpPr/>
          <p:nvPr>
            <p:custDataLst>
              <p:tags r:id="rId22"/>
            </p:custDataLst>
          </p:nvPr>
        </p:nvSpPr>
        <p:spPr>
          <a:xfrm>
            <a:off x="320040" y="3429000"/>
            <a:ext cx="4114800" cy="10515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>
            <p:custDataLst>
              <p:tags r:id="rId23"/>
            </p:custDataLst>
          </p:nvPr>
        </p:nvSpPr>
        <p:spPr>
          <a:xfrm>
            <a:off x="320040" y="3429000"/>
            <a:ext cx="54864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Shape 25"/>
          <p:cNvSpPr/>
          <p:nvPr>
            <p:custDataLst>
              <p:tags r:id="rId24"/>
            </p:custDataLst>
          </p:nvPr>
        </p:nvSpPr>
        <p:spPr>
          <a:xfrm>
            <a:off x="457200" y="3657600"/>
            <a:ext cx="502920" cy="502920"/>
          </a:xfrm>
          <a:prstGeom prst="ellipse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29" name="Text 26"/>
          <p:cNvSpPr/>
          <p:nvPr>
            <p:custDataLst>
              <p:tags r:id="rId25"/>
            </p:custDataLst>
          </p:nvPr>
        </p:nvSpPr>
        <p:spPr>
          <a:xfrm>
            <a:off x="457200" y="36576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0" name="Text 27"/>
          <p:cNvSpPr/>
          <p:nvPr>
            <p:custDataLst>
              <p:tags r:id="rId26"/>
            </p:custDataLst>
          </p:nvPr>
        </p:nvSpPr>
        <p:spPr>
          <a:xfrm>
            <a:off x="1069848" y="3429000"/>
            <a:ext cx="320040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Sample Queries &amp; Results</a:t>
            </a:r>
            <a:endParaRPr lang="en-US" sz="1400" dirty="0"/>
          </a:p>
        </p:txBody>
      </p:sp>
      <p:sp>
        <p:nvSpPr>
          <p:cNvPr id="31" name="Shape 28"/>
          <p:cNvSpPr/>
          <p:nvPr>
            <p:custDataLst>
              <p:tags r:id="rId27"/>
            </p:custDataLst>
          </p:nvPr>
        </p:nvSpPr>
        <p:spPr>
          <a:xfrm>
            <a:off x="4754880" y="3429000"/>
            <a:ext cx="4114800" cy="10515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29"/>
          <p:cNvSpPr/>
          <p:nvPr>
            <p:custDataLst>
              <p:tags r:id="rId28"/>
            </p:custDataLst>
          </p:nvPr>
        </p:nvSpPr>
        <p:spPr>
          <a:xfrm>
            <a:off x="4754880" y="3429000"/>
            <a:ext cx="54864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Shape 30"/>
          <p:cNvSpPr/>
          <p:nvPr>
            <p:custDataLst>
              <p:tags r:id="rId29"/>
            </p:custDataLst>
          </p:nvPr>
        </p:nvSpPr>
        <p:spPr>
          <a:xfrm>
            <a:off x="4892040" y="3657600"/>
            <a:ext cx="502920" cy="502920"/>
          </a:xfrm>
          <a:prstGeom prst="ellipse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4" name="Text 31"/>
          <p:cNvSpPr/>
          <p:nvPr>
            <p:custDataLst>
              <p:tags r:id="rId30"/>
            </p:custDataLst>
          </p:nvPr>
        </p:nvSpPr>
        <p:spPr>
          <a:xfrm>
            <a:off x="4892040" y="36576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5" name="Text 32"/>
          <p:cNvSpPr/>
          <p:nvPr>
            <p:custDataLst>
              <p:tags r:id="rId31"/>
            </p:custDataLst>
          </p:nvPr>
        </p:nvSpPr>
        <p:spPr>
          <a:xfrm>
            <a:off x="5504688" y="3429000"/>
            <a:ext cx="320040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Demonstration &amp; Conclusion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972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0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1. Project Selection — Insurance Industry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74320" y="914400"/>
            <a:ext cx="3840480" cy="38404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96012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Possible Systems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1463040"/>
            <a:ext cx="3520440" cy="594360"/>
          </a:xfrm>
          <a:prstGeom prst="rect">
            <a:avLst/>
          </a:prstGeom>
          <a:solidFill>
            <a:srgbClr val="EE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463040"/>
            <a:ext cx="32004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Health Insurance System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1480" y="2240280"/>
            <a:ext cx="3520440" cy="594360"/>
          </a:xfrm>
          <a:prstGeom prst="rect">
            <a:avLst/>
          </a:prstGeom>
          <a:solidFill>
            <a:srgbClr val="EE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2240280"/>
            <a:ext cx="32004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Life Insurance System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11480" y="3017520"/>
            <a:ext cx="352044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310896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96112" y="3017520"/>
            <a:ext cx="29260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 Motor Insurance System (Chosen)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297680" y="914400"/>
            <a:ext cx="4572000" cy="38404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480560" y="960120"/>
            <a:ext cx="4206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931"/>
                </a:solidFill>
              </a:rPr>
              <a:t>Why Motor Insurance?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434840" y="1554480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434840" y="155448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864608" y="1463040"/>
            <a:ext cx="38404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Covers complete insurance cycle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(Customer → Vehicle → Policy → Claim → Payment)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4434840" y="2331720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434840" y="233172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864608" y="2240280"/>
            <a:ext cx="38404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</a:rPr>
              <a:t>High real-world application in Uganda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4434840" y="3108960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434840" y="31089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4864608" y="3017520"/>
            <a:ext cx="38404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Suitable scope for database design &amp; implementation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4434840" y="3886200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434840" y="388620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4864608" y="3794760"/>
            <a:ext cx="38404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Clear entities and relationships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972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0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2. Business Case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>
            <p:custDataLst>
              <p:tags r:id="rId2"/>
            </p:custDataLst>
          </p:nvPr>
        </p:nvSpPr>
        <p:spPr>
          <a:xfrm>
            <a:off x="274320" y="914400"/>
            <a:ext cx="4160520" cy="1783080"/>
          </a:xfrm>
          <a:prstGeom prst="rect">
            <a:avLst/>
          </a:prstGeom>
          <a:solidFill>
            <a:srgbClr val="EBF8F8"/>
          </a:solidFill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p>
            <a:endParaRPr lang="en-GB" altLang="en-US"/>
          </a:p>
        </p:txBody>
      </p:sp>
      <p:sp>
        <p:nvSpPr>
          <p:cNvPr id="7" name="Shape 4"/>
          <p:cNvSpPr/>
          <p:nvPr>
            <p:custDataLst>
              <p:tags r:id="rId3"/>
            </p:custDataLst>
          </p:nvPr>
        </p:nvSpPr>
        <p:spPr>
          <a:xfrm>
            <a:off x="274320" y="914400"/>
            <a:ext cx="54864" cy="1783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38912" y="1024128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>
            <p:custDataLst>
              <p:tags r:id="rId6"/>
            </p:custDataLst>
          </p:nvPr>
        </p:nvSpPr>
        <p:spPr>
          <a:xfrm>
            <a:off x="914400" y="987552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931"/>
                </a:solidFill>
              </a:rPr>
              <a:t>Application Domain</a:t>
            </a:r>
            <a:endParaRPr lang="en-US" sz="1300" dirty="0"/>
          </a:p>
        </p:txBody>
      </p:sp>
      <p:sp>
        <p:nvSpPr>
          <p:cNvPr id="10" name="Text 6"/>
          <p:cNvSpPr/>
          <p:nvPr>
            <p:custDataLst>
              <p:tags r:id="rId7"/>
            </p:custDataLst>
          </p:nvPr>
        </p:nvSpPr>
        <p:spPr>
          <a:xfrm>
            <a:off x="411480" y="1417320"/>
            <a:ext cx="38862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Manages motor insurance policies, vehicles, claims &amp; payments for insurance companies/agents</a:t>
            </a:r>
            <a:r>
              <a:rPr lang="en-US" sz="1050" dirty="0">
                <a:solidFill>
                  <a:srgbClr val="1E293B"/>
                </a:solidFill>
              </a:rPr>
              <a:t>.</a:t>
            </a:r>
            <a:endParaRPr lang="en-US" sz="1050" dirty="0"/>
          </a:p>
        </p:txBody>
      </p:sp>
      <p:sp>
        <p:nvSpPr>
          <p:cNvPr id="11" name="Shape 7"/>
          <p:cNvSpPr/>
          <p:nvPr>
            <p:custDataLst>
              <p:tags r:id="rId8"/>
            </p:custDataLst>
          </p:nvPr>
        </p:nvSpPr>
        <p:spPr>
          <a:xfrm>
            <a:off x="4709160" y="914400"/>
            <a:ext cx="4160520" cy="1783080"/>
          </a:xfrm>
          <a:prstGeom prst="rect">
            <a:avLst/>
          </a:prstGeom>
          <a:solidFill>
            <a:srgbClr val="E8FDF5"/>
          </a:solidFill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8"/>
          <p:cNvSpPr/>
          <p:nvPr>
            <p:custDataLst>
              <p:tags r:id="rId9"/>
            </p:custDataLst>
          </p:nvPr>
        </p:nvSpPr>
        <p:spPr>
          <a:xfrm>
            <a:off x="4709160" y="914400"/>
            <a:ext cx="54864" cy="1783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4873752" y="1024128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>
            <p:custDataLst>
              <p:tags r:id="rId12"/>
            </p:custDataLst>
          </p:nvPr>
        </p:nvSpPr>
        <p:spPr>
          <a:xfrm>
            <a:off x="5349240" y="987552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931"/>
                </a:solidFill>
              </a:rPr>
              <a:t>Benefits</a:t>
            </a:r>
            <a:endParaRPr lang="en-US" sz="1300" dirty="0"/>
          </a:p>
        </p:txBody>
      </p:sp>
      <p:sp>
        <p:nvSpPr>
          <p:cNvPr id="15" name="Text 10"/>
          <p:cNvSpPr/>
          <p:nvPr>
            <p:custDataLst>
              <p:tags r:id="rId13"/>
            </p:custDataLst>
          </p:nvPr>
        </p:nvSpPr>
        <p:spPr>
          <a:xfrm>
            <a:off x="4846320" y="1417320"/>
            <a:ext cx="38862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Faster claim processing · Better customer retention · Reduced errors  on premium calculation and claims processing · Improved decision making</a:t>
            </a:r>
            <a:endParaRPr lang="en-US" sz="1200" dirty="0"/>
          </a:p>
        </p:txBody>
      </p:sp>
      <p:sp>
        <p:nvSpPr>
          <p:cNvPr id="16" name="Shape 11"/>
          <p:cNvSpPr/>
          <p:nvPr>
            <p:custDataLst>
              <p:tags r:id="rId14"/>
            </p:custDataLst>
          </p:nvPr>
        </p:nvSpPr>
        <p:spPr>
          <a:xfrm>
            <a:off x="274320" y="2880360"/>
            <a:ext cx="4160520" cy="1783080"/>
          </a:xfrm>
          <a:prstGeom prst="rect">
            <a:avLst/>
          </a:prstGeom>
          <a:solidFill>
            <a:srgbClr val="FEF3E2"/>
          </a:solidFill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2"/>
          <p:cNvSpPr/>
          <p:nvPr>
            <p:custDataLst>
              <p:tags r:id="rId15"/>
            </p:custDataLst>
          </p:nvPr>
        </p:nvSpPr>
        <p:spPr>
          <a:xfrm>
            <a:off x="274320" y="2880360"/>
            <a:ext cx="54864" cy="1783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38912" y="2990088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>
            <p:custDataLst>
              <p:tags r:id="rId18"/>
            </p:custDataLst>
          </p:nvPr>
        </p:nvSpPr>
        <p:spPr>
          <a:xfrm>
            <a:off x="914400" y="2953512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931"/>
                </a:solidFill>
              </a:rPr>
              <a:t>Costs vs Risks</a:t>
            </a:r>
            <a:endParaRPr lang="en-US" sz="1300" dirty="0"/>
          </a:p>
        </p:txBody>
      </p:sp>
      <p:sp>
        <p:nvSpPr>
          <p:cNvPr id="20" name="Text 14"/>
          <p:cNvSpPr/>
          <p:nvPr>
            <p:custDataLst>
              <p:tags r:id="rId19"/>
            </p:custDataLst>
          </p:nvPr>
        </p:nvSpPr>
        <p:spPr>
          <a:xfrm>
            <a:off x="411480" y="3383280"/>
            <a:ext cx="38862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Low cost (uses free MySQL). Risks: data security &amp; regulatory changes — all around with constraints &amp; backups.</a:t>
            </a:r>
            <a:endParaRPr lang="en-US" sz="1200" dirty="0"/>
          </a:p>
        </p:txBody>
      </p:sp>
      <p:sp>
        <p:nvSpPr>
          <p:cNvPr id="21" name="Shape 15"/>
          <p:cNvSpPr/>
          <p:nvPr>
            <p:custDataLst>
              <p:tags r:id="rId20"/>
            </p:custDataLst>
          </p:nvPr>
        </p:nvSpPr>
        <p:spPr>
          <a:xfrm>
            <a:off x="4709160" y="2880360"/>
            <a:ext cx="4160520" cy="1783080"/>
          </a:xfrm>
          <a:prstGeom prst="rect">
            <a:avLst/>
          </a:prstGeom>
          <a:solidFill>
            <a:srgbClr val="EFF0FF"/>
          </a:solidFill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16"/>
          <p:cNvSpPr/>
          <p:nvPr>
            <p:custDataLst>
              <p:tags r:id="rId21"/>
            </p:custDataLst>
          </p:nvPr>
        </p:nvSpPr>
        <p:spPr>
          <a:xfrm>
            <a:off x="4709160" y="2880360"/>
            <a:ext cx="54864" cy="1783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4873752" y="2990088"/>
            <a:ext cx="411480" cy="411480"/>
          </a:xfrm>
          <a:prstGeom prst="rect">
            <a:avLst/>
          </a:prstGeom>
        </p:spPr>
      </p:pic>
      <p:sp>
        <p:nvSpPr>
          <p:cNvPr id="24" name="Text 17"/>
          <p:cNvSpPr/>
          <p:nvPr>
            <p:custDataLst>
              <p:tags r:id="rId24"/>
            </p:custDataLst>
          </p:nvPr>
        </p:nvSpPr>
        <p:spPr>
          <a:xfrm>
            <a:off x="5349240" y="2953512"/>
            <a:ext cx="3383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931"/>
                </a:solidFill>
              </a:rPr>
              <a:t>Limitations</a:t>
            </a:r>
            <a:endParaRPr lang="en-US" sz="1300" dirty="0"/>
          </a:p>
        </p:txBody>
      </p:sp>
      <p:sp>
        <p:nvSpPr>
          <p:cNvPr id="25" name="Text 18"/>
          <p:cNvSpPr/>
          <p:nvPr>
            <p:custDataLst>
              <p:tags r:id="rId25"/>
            </p:custDataLst>
          </p:nvPr>
        </p:nvSpPr>
        <p:spPr>
          <a:xfrm>
            <a:off x="4846320" y="3383280"/>
            <a:ext cx="38862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Designed for small to medium insurance businesses. Not enterprise-level.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Comparable System: Guidewire InsuranceSuite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972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0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 Logical Design — Entities &amp; Relationships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74320" y="914400"/>
            <a:ext cx="2926080" cy="3931920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960120"/>
            <a:ext cx="25603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Main Entities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1463040"/>
            <a:ext cx="2651760" cy="457200"/>
          </a:xfrm>
          <a:prstGeom prst="rect">
            <a:avLst/>
          </a:prstGeom>
          <a:solidFill>
            <a:srgbClr val="F0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463040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Customer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1480" y="2057400"/>
            <a:ext cx="2651760" cy="457200"/>
          </a:xfrm>
          <a:prstGeom prst="rect">
            <a:avLst/>
          </a:prstGeom>
          <a:solidFill>
            <a:srgbClr val="F0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2057400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Vehicle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11480" y="2651760"/>
            <a:ext cx="265176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2651760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Policy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11480" y="3246120"/>
            <a:ext cx="2651760" cy="457200"/>
          </a:xfrm>
          <a:prstGeom prst="rect">
            <a:avLst/>
          </a:prstGeom>
          <a:solidFill>
            <a:srgbClr val="F0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3246120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Claim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11480" y="3840480"/>
            <a:ext cx="2651760" cy="457200"/>
          </a:xfrm>
          <a:prstGeom prst="rect">
            <a:avLst/>
          </a:prstGeom>
          <a:solidFill>
            <a:srgbClr val="F0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3840480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Payment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429000" y="914400"/>
            <a:ext cx="5486400" cy="3931920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3611880" y="960120"/>
            <a:ext cx="5120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931"/>
                </a:solidFill>
              </a:rPr>
              <a:t>Key Relationships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566160" y="1435608"/>
            <a:ext cx="1097280" cy="402336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566160" y="1435608"/>
            <a:ext cx="10972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Customer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736592" y="1481328"/>
            <a:ext cx="658368" cy="320040"/>
          </a:xfrm>
          <a:prstGeom prst="roundRect">
            <a:avLst>
              <a:gd name="adj" fmla="val 22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36592" y="1481328"/>
            <a:ext cx="65836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931"/>
                </a:solidFill>
              </a:rPr>
              <a:t>1 : N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468112" y="1435608"/>
            <a:ext cx="1097280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68112" y="1435608"/>
            <a:ext cx="10972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Policy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629400" y="1435608"/>
            <a:ext cx="21488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One customer can have many policies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566160" y="2258568"/>
            <a:ext cx="1097280" cy="402336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566160" y="2258568"/>
            <a:ext cx="10972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Vehicle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736592" y="2304288"/>
            <a:ext cx="658368" cy="320040"/>
          </a:xfrm>
          <a:prstGeom prst="roundRect">
            <a:avLst>
              <a:gd name="adj" fmla="val 22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36592" y="2304288"/>
            <a:ext cx="65836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931"/>
                </a:solidFill>
              </a:rPr>
              <a:t>1 : N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468112" y="2258568"/>
            <a:ext cx="1097280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468112" y="2258568"/>
            <a:ext cx="10972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Policy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629400" y="2258568"/>
            <a:ext cx="21488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One vehicle can be covered by many policies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3566160" y="3081528"/>
            <a:ext cx="1097280" cy="402336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566160" y="3081528"/>
            <a:ext cx="10972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Policy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36592" y="3127248"/>
            <a:ext cx="658368" cy="320040"/>
          </a:xfrm>
          <a:prstGeom prst="roundRect">
            <a:avLst>
              <a:gd name="adj" fmla="val 22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736592" y="3127248"/>
            <a:ext cx="65836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931"/>
                </a:solidFill>
              </a:rPr>
              <a:t>1 : N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5468112" y="3081528"/>
            <a:ext cx="1097280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468112" y="3081528"/>
            <a:ext cx="10972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Claim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6629400" y="3081528"/>
            <a:ext cx="21488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One policy can have many claims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3566160" y="3904488"/>
            <a:ext cx="1097280" cy="402336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566160" y="3904488"/>
            <a:ext cx="10972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Policy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4736592" y="3950208"/>
            <a:ext cx="658368" cy="320040"/>
          </a:xfrm>
          <a:prstGeom prst="roundRect">
            <a:avLst>
              <a:gd name="adj" fmla="val 22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736592" y="3950208"/>
            <a:ext cx="65836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931"/>
                </a:solidFill>
              </a:rPr>
              <a:t>1 : N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5468112" y="3904488"/>
            <a:ext cx="1097280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468112" y="3904488"/>
            <a:ext cx="10972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Payment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6629400" y="3904488"/>
            <a:ext cx="21488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One policy can have many payments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3566160" y="4572000"/>
            <a:ext cx="53035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28090"/>
                </a:solidFill>
              </a:rPr>
              <a:t>ER Diagram →  See Next Slide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972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0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ER Diagram — Entity Relationship Diagram (EER)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8229600" cy="3566160"/>
          </a:xfrm>
          <a:prstGeom prst="rect">
            <a:avLst/>
          </a:prstGeom>
          <a:solidFill>
            <a:srgbClr val="EEF6FA"/>
          </a:solidFill>
          <a:ln w="19050">
            <a:solidFill>
              <a:srgbClr val="028090"/>
            </a:solidFill>
            <a:prstDash val="dash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737360"/>
            <a:ext cx="731520" cy="731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</a:rPr>
              <a:t>[ Insert EER Diagram Screenshot Here ]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Export from MySQL Workbench → Database → Reverse Engineer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Motor Insurance Database — Entity-Relationship Diagram (EER)</a:t>
            </a:r>
            <a:endParaRPr lang="en-US" sz="1000" dirty="0"/>
          </a:p>
        </p:txBody>
      </p:sp>
      <p:pic>
        <p:nvPicPr>
          <p:cNvPr id="11" name="Picture 10" descr="ER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75" y="781050"/>
            <a:ext cx="8487410" cy="43624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972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0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Implementation — Table Creation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74320" y="914400"/>
            <a:ext cx="3200400" cy="54864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914400"/>
            <a:ext cx="2926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Database: motor_insurance</a:t>
            </a:r>
            <a:endParaRPr lang="en-US" sz="1300" dirty="0"/>
          </a:p>
        </p:txBody>
      </p:sp>
      <p:sp>
        <p:nvSpPr>
          <p:cNvPr id="8" name="Shape 5"/>
          <p:cNvSpPr/>
          <p:nvPr>
            <p:custDataLst>
              <p:tags r:id="rId2"/>
            </p:custDataLst>
          </p:nvPr>
        </p:nvSpPr>
        <p:spPr>
          <a:xfrm>
            <a:off x="274320" y="1600200"/>
            <a:ext cx="4160520" cy="2880360"/>
          </a:xfrm>
          <a:prstGeom prst="rect">
            <a:avLst/>
          </a:prstGeom>
          <a:solidFill>
            <a:srgbClr val="1E2D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6"/>
          <p:cNvSpPr/>
          <p:nvPr>
            <p:custDataLst>
              <p:tags r:id="rId3"/>
            </p:custDataLst>
          </p:nvPr>
        </p:nvSpPr>
        <p:spPr>
          <a:xfrm>
            <a:off x="411480" y="1691640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CREATE TABLE customer (...</a:t>
            </a:r>
            <a:endParaRPr lang="en-US" sz="1000" dirty="0"/>
          </a:p>
        </p:txBody>
      </p:sp>
      <p:sp>
        <p:nvSpPr>
          <p:cNvPr id="10" name="Text 7"/>
          <p:cNvSpPr/>
          <p:nvPr>
            <p:custDataLst>
              <p:tags r:id="rId4"/>
            </p:custDataLst>
          </p:nvPr>
        </p:nvSpPr>
        <p:spPr>
          <a:xfrm>
            <a:off x="411480" y="2240280"/>
            <a:ext cx="38404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customer_id INT PRIMARY KEY,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first_name VARCHAR(50),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last_name VARCHAR(50),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email VARCHAR(100),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phone VARCHAR(20),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...</a:t>
            </a:r>
            <a:endParaRPr lang="en-US" sz="1400" dirty="0"/>
          </a:p>
        </p:txBody>
      </p:sp>
      <p:sp>
        <p:nvSpPr>
          <p:cNvPr id="11" name="Text 8"/>
          <p:cNvSpPr/>
          <p:nvPr>
            <p:custDataLst>
              <p:tags r:id="rId5"/>
            </p:custDataLst>
          </p:nvPr>
        </p:nvSpPr>
        <p:spPr>
          <a:xfrm>
            <a:off x="411480" y="3200400"/>
            <a:ext cx="38404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2" name="Shape 9"/>
          <p:cNvSpPr/>
          <p:nvPr>
            <p:custDataLst>
              <p:tags r:id="rId6"/>
            </p:custDataLst>
          </p:nvPr>
        </p:nvSpPr>
        <p:spPr>
          <a:xfrm>
            <a:off x="4709160" y="1600200"/>
            <a:ext cx="4160520" cy="2880360"/>
          </a:xfrm>
          <a:prstGeom prst="rect">
            <a:avLst/>
          </a:prstGeom>
          <a:solidFill>
            <a:srgbClr val="1E2D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0"/>
          <p:cNvSpPr/>
          <p:nvPr>
            <p:custDataLst>
              <p:tags r:id="rId7"/>
            </p:custDataLst>
          </p:nvPr>
        </p:nvSpPr>
        <p:spPr>
          <a:xfrm>
            <a:off x="4846320" y="1691640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CREATE TABLE policy (</a:t>
            </a:r>
            <a:endParaRPr lang="en-US" sz="1000" dirty="0"/>
          </a:p>
        </p:txBody>
      </p:sp>
      <p:sp>
        <p:nvSpPr>
          <p:cNvPr id="14" name="Text 11"/>
          <p:cNvSpPr/>
          <p:nvPr>
            <p:custDataLst>
              <p:tags r:id="rId8"/>
            </p:custDataLst>
          </p:nvPr>
        </p:nvSpPr>
        <p:spPr>
          <a:xfrm>
            <a:off x="4846320" y="2171700"/>
            <a:ext cx="38404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policy_id INT PRIMARY KEY,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customer_id INT NOT NULL,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vehicle_id INT NOT NULL,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start_date DATE,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end_date DATE,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...</a:t>
            </a:r>
            <a:endParaRPr lang="en-US" sz="1400" dirty="0"/>
          </a:p>
        </p:txBody>
      </p:sp>
      <p:sp>
        <p:nvSpPr>
          <p:cNvPr id="15" name="Text 12"/>
          <p:cNvSpPr/>
          <p:nvPr>
            <p:custDataLst>
              <p:tags r:id="rId9"/>
            </p:custDataLst>
          </p:nvPr>
        </p:nvSpPr>
        <p:spPr>
          <a:xfrm>
            <a:off x="4846320" y="3200400"/>
            <a:ext cx="38404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/>
              <a:t>ALL THIS WAS USED TO CREATE THE FIVE TABLES USING MYSQL LANGUAGE.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972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0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Physical Design — Table Structures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7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/>
              <a:t>Screenshots taken from MySQL Client line</a:t>
            </a:r>
            <a:endParaRPr lang="en-US" sz="1300" dirty="0"/>
          </a:p>
        </p:txBody>
      </p:sp>
      <p:sp>
        <p:nvSpPr>
          <p:cNvPr id="7" name="Shape 4"/>
          <p:cNvSpPr/>
          <p:nvPr>
            <p:custDataLst>
              <p:tags r:id="rId2"/>
            </p:custDataLst>
          </p:nvPr>
        </p:nvSpPr>
        <p:spPr>
          <a:xfrm>
            <a:off x="274320" y="1280160"/>
            <a:ext cx="4297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dash"/>
          </a:ln>
        </p:spPr>
      </p:sp>
      <p:sp>
        <p:nvSpPr>
          <p:cNvPr id="8" name="Shape 5"/>
          <p:cNvSpPr/>
          <p:nvPr>
            <p:custDataLst>
              <p:tags r:id="rId3"/>
            </p:custDataLst>
          </p:nvPr>
        </p:nvSpPr>
        <p:spPr>
          <a:xfrm>
            <a:off x="274320" y="1280160"/>
            <a:ext cx="4297680" cy="292608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9" name="Text 6"/>
          <p:cNvSpPr/>
          <p:nvPr>
            <p:custDataLst>
              <p:tags r:id="rId4"/>
            </p:custDataLst>
          </p:nvPr>
        </p:nvSpPr>
        <p:spPr>
          <a:xfrm>
            <a:off x="365760" y="1280160"/>
            <a:ext cx="4114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SHOW TABLES;</a:t>
            </a:r>
            <a:endParaRPr lang="en-US" sz="1000" dirty="0"/>
          </a:p>
        </p:txBody>
      </p:sp>
      <p:sp>
        <p:nvSpPr>
          <p:cNvPr id="10" name="Text 7"/>
          <p:cNvSpPr/>
          <p:nvPr>
            <p:custDataLst>
              <p:tags r:id="rId5"/>
            </p:custDataLst>
          </p:nvPr>
        </p:nvSpPr>
        <p:spPr>
          <a:xfrm>
            <a:off x="457200" y="1691640"/>
            <a:ext cx="393192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[ Screenshot Here ]</a:t>
            </a:r>
            <a:endParaRPr lang="en-US" sz="1100" dirty="0"/>
          </a:p>
        </p:txBody>
      </p:sp>
      <p:sp>
        <p:nvSpPr>
          <p:cNvPr id="13" name="Text 10"/>
          <p:cNvSpPr/>
          <p:nvPr>
            <p:custDataLst>
              <p:tags r:id="rId6"/>
            </p:custDataLst>
          </p:nvPr>
        </p:nvSpPr>
        <p:spPr>
          <a:xfrm>
            <a:off x="4846320" y="1280160"/>
            <a:ext cx="39319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Shape 12"/>
          <p:cNvSpPr/>
          <p:nvPr>
            <p:custDataLst>
              <p:tags r:id="rId7"/>
            </p:custDataLst>
          </p:nvPr>
        </p:nvSpPr>
        <p:spPr>
          <a:xfrm>
            <a:off x="274320" y="3063240"/>
            <a:ext cx="4297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dash"/>
          </a:ln>
        </p:spPr>
      </p:sp>
      <p:sp>
        <p:nvSpPr>
          <p:cNvPr id="16" name="Shape 13"/>
          <p:cNvSpPr/>
          <p:nvPr>
            <p:custDataLst>
              <p:tags r:id="rId8"/>
            </p:custDataLst>
          </p:nvPr>
        </p:nvSpPr>
        <p:spPr>
          <a:xfrm>
            <a:off x="274320" y="3063240"/>
            <a:ext cx="4297680" cy="292608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17" name="Text 14"/>
          <p:cNvSpPr/>
          <p:nvPr>
            <p:custDataLst>
              <p:tags r:id="rId9"/>
            </p:custDataLst>
          </p:nvPr>
        </p:nvSpPr>
        <p:spPr>
          <a:xfrm>
            <a:off x="365760" y="3063240"/>
            <a:ext cx="4114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DESCRIBE Vehicle;</a:t>
            </a:r>
            <a:endParaRPr lang="en-US" sz="1000" dirty="0"/>
          </a:p>
        </p:txBody>
      </p:sp>
      <p:sp>
        <p:nvSpPr>
          <p:cNvPr id="18" name="Text 15"/>
          <p:cNvSpPr/>
          <p:nvPr>
            <p:custDataLst>
              <p:tags r:id="rId10"/>
            </p:custDataLst>
          </p:nvPr>
        </p:nvSpPr>
        <p:spPr>
          <a:xfrm>
            <a:off x="457200" y="3474720"/>
            <a:ext cx="393192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[ Screenshot Here ]</a:t>
            </a:r>
            <a:endParaRPr lang="en-US" sz="1100" dirty="0"/>
          </a:p>
        </p:txBody>
      </p:sp>
      <p:sp>
        <p:nvSpPr>
          <p:cNvPr id="21" name="Text 18"/>
          <p:cNvSpPr/>
          <p:nvPr>
            <p:custDataLst>
              <p:tags r:id="rId11"/>
            </p:custDataLst>
          </p:nvPr>
        </p:nvSpPr>
        <p:spPr>
          <a:xfrm>
            <a:off x="4846320" y="3063240"/>
            <a:ext cx="39319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2" name="Text 19"/>
          <p:cNvSpPr/>
          <p:nvPr>
            <p:custDataLst>
              <p:tags r:id="rId12"/>
            </p:custDataLst>
          </p:nvPr>
        </p:nvSpPr>
        <p:spPr>
          <a:xfrm>
            <a:off x="4937760" y="1261110"/>
            <a:ext cx="3749040" cy="33108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274320" y="4681728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Note: All tables created in MySQL Command Line Client with proper Primary and Foreign Keys.</a:t>
            </a:r>
            <a:endParaRPr lang="en-US" sz="900" dirty="0"/>
          </a:p>
        </p:txBody>
      </p:sp>
      <p:pic>
        <p:nvPicPr>
          <p:cNvPr id="25" name="Picture 24" descr="Tables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274320" y="1591945"/>
            <a:ext cx="4297045" cy="3125470"/>
          </a:xfrm>
          <a:prstGeom prst="rect">
            <a:avLst/>
          </a:prstGeom>
        </p:spPr>
      </p:pic>
      <p:sp>
        <p:nvSpPr>
          <p:cNvPr id="28" name="Text Box 27"/>
          <p:cNvSpPr txBox="1"/>
          <p:nvPr/>
        </p:nvSpPr>
        <p:spPr>
          <a:xfrm>
            <a:off x="5038725" y="1280160"/>
            <a:ext cx="3048000" cy="1509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/>
              <a:t>Shown are the tables in the motor_insurance database created using mysql</a:t>
            </a:r>
            <a:endParaRPr lang="en-US" alt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11"/>
          <p:cNvSpPr/>
          <p:nvPr>
            <p:custDataLst>
              <p:tags r:id="rId1"/>
            </p:custDataLst>
          </p:nvPr>
        </p:nvSpPr>
        <p:spPr>
          <a:xfrm>
            <a:off x="292100" y="707390"/>
            <a:ext cx="8394700" cy="38512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[ Screenshot Here ]</a:t>
            </a:r>
            <a:endParaRPr lang="en-US" sz="1100" dirty="0"/>
          </a:p>
        </p:txBody>
      </p:sp>
      <p:pic>
        <p:nvPicPr>
          <p:cNvPr id="3" name="Picture 2" descr="custom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601345"/>
            <a:ext cx="9144635" cy="454215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632460" y="18923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Customer table:</a:t>
            </a:r>
            <a:endParaRPr lang="en-US" altLang="en-GB"/>
          </a:p>
        </p:txBody>
      </p:sp>
      <p:sp>
        <p:nvSpPr>
          <p:cNvPr id="12" name="Shape 9"/>
          <p:cNvSpPr/>
          <p:nvPr>
            <p:custDataLst>
              <p:tags r:id="rId3"/>
            </p:custDataLst>
          </p:nvPr>
        </p:nvSpPr>
        <p:spPr>
          <a:xfrm>
            <a:off x="99060" y="77470"/>
            <a:ext cx="4114800" cy="40259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  <p:txBody>
          <a:bodyPr/>
          <a:p>
            <a:r>
              <a:rPr lang="en-US" altLang="en-GB">
                <a:highlight>
                  <a:srgbClr val="00FFFF"/>
                </a:highlight>
              </a:rPr>
              <a:t>customer table:</a:t>
            </a:r>
            <a:endParaRPr lang="en-US" altLang="en-GB">
              <a:highlight>
                <a:srgbClr val="00FFFF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12" name="Shape 9"/>
          <p:cNvSpPr/>
          <p:nvPr>
            <p:custDataLst>
              <p:tags r:id="rId1"/>
            </p:custDataLst>
          </p:nvPr>
        </p:nvSpPr>
        <p:spPr>
          <a:xfrm>
            <a:off x="237490" y="75565"/>
            <a:ext cx="4114800" cy="503555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  <p:txBody>
          <a:bodyPr/>
          <a:p>
            <a:r>
              <a:rPr lang="en-US" altLang="en-GB"/>
              <a:t>v</a:t>
            </a:r>
            <a:r>
              <a:rPr lang="en-US" altLang="en-GB">
                <a:highlight>
                  <a:srgbClr val="00FFFF"/>
                </a:highlight>
              </a:rPr>
              <a:t>vehicle table:</a:t>
            </a:r>
            <a:endParaRPr lang="en-US" altLang="en-GB">
              <a:highlight>
                <a:srgbClr val="00FFFF"/>
              </a:highlight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51460" y="796925"/>
            <a:ext cx="8619490" cy="4150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GB" altLang="en-US"/>
          </a:p>
        </p:txBody>
      </p:sp>
      <p:pic>
        <p:nvPicPr>
          <p:cNvPr id="4" name="Picture 3" descr="false vehicl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" y="614680"/>
            <a:ext cx="9096375" cy="4333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12" name="Shape 9"/>
          <p:cNvSpPr/>
          <p:nvPr>
            <p:custDataLst>
              <p:tags r:id="rId1"/>
            </p:custDataLst>
          </p:nvPr>
        </p:nvSpPr>
        <p:spPr>
          <a:xfrm>
            <a:off x="457200" y="142875"/>
            <a:ext cx="4114800" cy="436245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  <p:txBody>
          <a:bodyPr/>
          <a:p>
            <a:r>
              <a:rPr lang="en-US" altLang="en-GB">
                <a:highlight>
                  <a:srgbClr val="00FFFF"/>
                </a:highlight>
              </a:rPr>
              <a:t>policy table:</a:t>
            </a:r>
            <a:endParaRPr lang="en-US" altLang="en-GB">
              <a:highlight>
                <a:srgbClr val="00FFFF"/>
              </a:highlight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24180" y="782320"/>
            <a:ext cx="8281670" cy="41954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GB" altLang="en-US"/>
          </a:p>
        </p:txBody>
      </p:sp>
      <p:pic>
        <p:nvPicPr>
          <p:cNvPr id="5" name="Picture 4" descr="polic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525"/>
            <a:ext cx="9144000" cy="44983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12" name="Shape 9"/>
          <p:cNvSpPr/>
          <p:nvPr>
            <p:custDataLst>
              <p:tags r:id="rId1"/>
            </p:custDataLst>
          </p:nvPr>
        </p:nvSpPr>
        <p:spPr>
          <a:xfrm>
            <a:off x="186690" y="0"/>
            <a:ext cx="4114800" cy="57023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  <p:txBody>
          <a:bodyPr/>
          <a:p>
            <a:r>
              <a:rPr lang="en-US" altLang="en-GB">
                <a:highlight>
                  <a:srgbClr val="00FFFF"/>
                </a:highlight>
              </a:rPr>
              <a:t>claim table:</a:t>
            </a:r>
            <a:endParaRPr lang="en-US" altLang="en-GB">
              <a:highlight>
                <a:srgbClr val="00FFFF"/>
              </a:highlight>
            </a:endParaRPr>
          </a:p>
        </p:txBody>
      </p:sp>
      <p:pic>
        <p:nvPicPr>
          <p:cNvPr id="3" name="Picture 2" descr="clai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4995"/>
            <a:ext cx="9144000" cy="45491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12" name="Shape 9"/>
          <p:cNvSpPr/>
          <p:nvPr>
            <p:custDataLst>
              <p:tags r:id="rId1"/>
            </p:custDataLst>
          </p:nvPr>
        </p:nvSpPr>
        <p:spPr>
          <a:xfrm>
            <a:off x="457200" y="142875"/>
            <a:ext cx="4114800" cy="452755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  <p:txBody>
          <a:bodyPr/>
          <a:p>
            <a:r>
              <a:rPr lang="en-US" altLang="en-GB">
                <a:highlight>
                  <a:srgbClr val="0000FF"/>
                </a:highlight>
              </a:rPr>
              <a:t>payment table:</a:t>
            </a:r>
            <a:endParaRPr lang="en-US" altLang="en-GB">
              <a:highlight>
                <a:srgbClr val="0000FF"/>
              </a:highlight>
            </a:endParaRPr>
          </a:p>
        </p:txBody>
      </p:sp>
      <p:pic>
        <p:nvPicPr>
          <p:cNvPr id="3" name="Picture 2" descr="paymen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9310"/>
            <a:ext cx="9144000" cy="431419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972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0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Query Results — Output Screenshots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11</a:t>
            </a:r>
            <a:endParaRPr lang="en-US" sz="1000" dirty="0"/>
          </a:p>
        </p:txBody>
      </p:sp>
      <p:sp>
        <p:nvSpPr>
          <p:cNvPr id="7" name="Shape 4"/>
          <p:cNvSpPr/>
          <p:nvPr>
            <p:custDataLst>
              <p:tags r:id="rId2"/>
            </p:custDataLst>
          </p:nvPr>
        </p:nvSpPr>
        <p:spPr>
          <a:xfrm>
            <a:off x="274320" y="914400"/>
            <a:ext cx="4206240" cy="310896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8" name="Text 5"/>
          <p:cNvSpPr/>
          <p:nvPr>
            <p:custDataLst>
              <p:tags r:id="rId3"/>
            </p:custDataLst>
          </p:nvPr>
        </p:nvSpPr>
        <p:spPr>
          <a:xfrm>
            <a:off x="365760" y="914400"/>
            <a:ext cx="40233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Policies Expiring Soon</a:t>
            </a:r>
            <a:endParaRPr lang="en-US" sz="1000" dirty="0"/>
          </a:p>
        </p:txBody>
      </p:sp>
      <p:sp>
        <p:nvSpPr>
          <p:cNvPr id="9" name="Text 6"/>
          <p:cNvSpPr/>
          <p:nvPr>
            <p:custDataLst>
              <p:tags r:id="rId4"/>
            </p:custDataLst>
          </p:nvPr>
        </p:nvSpPr>
        <p:spPr>
          <a:xfrm>
            <a:off x="365760" y="1325880"/>
            <a:ext cx="848741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[ Insert Query Result Screenshot ]</a:t>
            </a:r>
            <a:endParaRPr lang="en-US" sz="1100" dirty="0"/>
          </a:p>
        </p:txBody>
      </p:sp>
      <p:sp>
        <p:nvSpPr>
          <p:cNvPr id="12" name="Text 9"/>
          <p:cNvSpPr/>
          <p:nvPr>
            <p:custDataLst>
              <p:tags r:id="rId5"/>
            </p:custDataLst>
          </p:nvPr>
        </p:nvSpPr>
        <p:spPr>
          <a:xfrm>
            <a:off x="4754880" y="914400"/>
            <a:ext cx="40233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Total Claims by Customer/Policy</a:t>
            </a:r>
            <a:endParaRPr lang="en-US" sz="1000" dirty="0"/>
          </a:p>
        </p:txBody>
      </p:sp>
      <p:sp>
        <p:nvSpPr>
          <p:cNvPr id="13" name="Text 10"/>
          <p:cNvSpPr/>
          <p:nvPr>
            <p:custDataLst>
              <p:tags r:id="rId6"/>
            </p:custDataLst>
          </p:nvPr>
        </p:nvSpPr>
        <p:spPr>
          <a:xfrm>
            <a:off x="4754880" y="1325880"/>
            <a:ext cx="402336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5" name="Shape 12"/>
          <p:cNvSpPr/>
          <p:nvPr>
            <p:custDataLst>
              <p:tags r:id="rId7"/>
            </p:custDataLst>
          </p:nvPr>
        </p:nvSpPr>
        <p:spPr>
          <a:xfrm>
            <a:off x="274320" y="2834640"/>
            <a:ext cx="4206240" cy="310896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16" name="Text 13"/>
          <p:cNvSpPr/>
          <p:nvPr>
            <p:custDataLst>
              <p:tags r:id="rId8"/>
            </p:custDataLst>
          </p:nvPr>
        </p:nvSpPr>
        <p:spPr>
          <a:xfrm>
            <a:off x="365760" y="2834640"/>
            <a:ext cx="40233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Pending Claims Report</a:t>
            </a:r>
            <a:endParaRPr lang="en-US" sz="1000" dirty="0"/>
          </a:p>
        </p:txBody>
      </p:sp>
      <p:sp>
        <p:nvSpPr>
          <p:cNvPr id="17" name="Text 14"/>
          <p:cNvSpPr/>
          <p:nvPr>
            <p:custDataLst>
              <p:tags r:id="rId9"/>
            </p:custDataLst>
          </p:nvPr>
        </p:nvSpPr>
        <p:spPr>
          <a:xfrm>
            <a:off x="365760" y="3246120"/>
            <a:ext cx="402336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0" name="Text 17"/>
          <p:cNvSpPr/>
          <p:nvPr>
            <p:custDataLst>
              <p:tags r:id="rId10"/>
            </p:custDataLst>
          </p:nvPr>
        </p:nvSpPr>
        <p:spPr>
          <a:xfrm>
            <a:off x="4663440" y="2834640"/>
            <a:ext cx="40233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Premium Summary</a:t>
            </a:r>
            <a:endParaRPr lang="en-US" sz="1000" dirty="0"/>
          </a:p>
        </p:txBody>
      </p:sp>
      <p:sp>
        <p:nvSpPr>
          <p:cNvPr id="21" name="Text 18"/>
          <p:cNvSpPr/>
          <p:nvPr>
            <p:custDataLst>
              <p:tags r:id="rId11"/>
            </p:custDataLst>
          </p:nvPr>
        </p:nvSpPr>
        <p:spPr>
          <a:xfrm>
            <a:off x="4754880" y="3246120"/>
            <a:ext cx="402336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pic>
        <p:nvPicPr>
          <p:cNvPr id="22" name="Picture 21" descr="POLICIES SOON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065" y="1329690"/>
            <a:ext cx="9040495" cy="930910"/>
          </a:xfrm>
          <a:prstGeom prst="rect">
            <a:avLst/>
          </a:prstGeom>
        </p:spPr>
      </p:pic>
      <p:sp>
        <p:nvSpPr>
          <p:cNvPr id="23" name="Text Box 22"/>
          <p:cNvSpPr txBox="1"/>
          <p:nvPr/>
        </p:nvSpPr>
        <p:spPr>
          <a:xfrm>
            <a:off x="182880" y="2268220"/>
            <a:ext cx="8758555" cy="3740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/>
              <a:t>This brought an Empty set as there seemed no policy to expire in the 60 day peroid.</a:t>
            </a:r>
            <a:endParaRPr lang="en-US" altLang="en-GB"/>
          </a:p>
        </p:txBody>
      </p:sp>
      <p:pic>
        <p:nvPicPr>
          <p:cNvPr id="24" name="Picture 23" descr="claim pendi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065" y="3234055"/>
            <a:ext cx="9144000" cy="1431925"/>
          </a:xfrm>
          <a:prstGeom prst="rect">
            <a:avLst/>
          </a:prstGeom>
        </p:spPr>
      </p:pic>
      <p:sp>
        <p:nvSpPr>
          <p:cNvPr id="27" name="Text Box 26"/>
          <p:cNvSpPr txBox="1"/>
          <p:nvPr/>
        </p:nvSpPr>
        <p:spPr>
          <a:xfrm>
            <a:off x="274320" y="4665980"/>
            <a:ext cx="8503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/>
              <a:t>This brought customers that had pending claims.</a:t>
            </a:r>
            <a:endParaRPr lang="en-US" altLang="en-GB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  <p:txBody>
          <a:bodyPr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sym typeface="+mn-ea"/>
              </a:rPr>
              <a:t>                 </a:t>
            </a:r>
            <a:endParaRPr lang="en-US" b="1" dirty="0">
              <a:solidFill>
                <a:srgbClr val="FFFFFF"/>
              </a:solidFill>
              <a:sym typeface="+mn-ea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sym typeface="+mn-ea"/>
              </a:rPr>
              <a:t>                    Query Results — Output Screenshots</a:t>
            </a:r>
            <a:endParaRPr lang="en-GB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9728"/>
            <a:ext cx="502920" cy="502920"/>
          </a:xfrm>
          <a:prstGeom prst="rect">
            <a:avLst/>
          </a:prstGeom>
        </p:spPr>
      </p:pic>
      <p:sp>
        <p:nvSpPr>
          <p:cNvPr id="11" name="Shape 8"/>
          <p:cNvSpPr/>
          <p:nvPr>
            <p:custDataLst>
              <p:tags r:id="rId2"/>
            </p:custDataLst>
          </p:nvPr>
        </p:nvSpPr>
        <p:spPr>
          <a:xfrm>
            <a:off x="182880" y="914400"/>
            <a:ext cx="4389120" cy="31115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  <p:txBody>
          <a:bodyPr/>
          <a:p>
            <a:r>
              <a:rPr lang="en-US" altLang="en-GB"/>
              <a:t>A</a:t>
            </a:r>
            <a:r>
              <a:rPr lang="en-US" altLang="en-GB">
                <a:highlight>
                  <a:srgbClr val="C0C0C0"/>
                </a:highlight>
              </a:rPr>
              <a:t>All active policies with customer names:</a:t>
            </a:r>
            <a:endParaRPr lang="en-US" altLang="en-GB">
              <a:highlight>
                <a:srgbClr val="C0C0C0"/>
              </a:highlight>
            </a:endParaRPr>
          </a:p>
        </p:txBody>
      </p:sp>
      <p:sp>
        <p:nvSpPr>
          <p:cNvPr id="19" name="Shape 16"/>
          <p:cNvSpPr/>
          <p:nvPr>
            <p:custDataLst>
              <p:tags r:id="rId3"/>
            </p:custDataLst>
          </p:nvPr>
        </p:nvSpPr>
        <p:spPr>
          <a:xfrm>
            <a:off x="182880" y="3033395"/>
            <a:ext cx="4206240" cy="310896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  <p:txBody>
          <a:bodyPr/>
          <a:p>
            <a:r>
              <a:rPr lang="en-US" altLang="en-GB">
                <a:highlight>
                  <a:srgbClr val="C0C0C0"/>
                </a:highlight>
              </a:rPr>
              <a:t>Total premium calculated:</a:t>
            </a:r>
            <a:endParaRPr lang="en-US" altLang="en-GB">
              <a:highlight>
                <a:srgbClr val="C0C0C0"/>
              </a:highlight>
            </a:endParaRPr>
          </a:p>
        </p:txBody>
      </p:sp>
      <p:pic>
        <p:nvPicPr>
          <p:cNvPr id="6" name="Picture 5" descr="active polici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49375"/>
            <a:ext cx="9144000" cy="1558290"/>
          </a:xfrm>
          <a:prstGeom prst="rect">
            <a:avLst/>
          </a:prstGeom>
        </p:spPr>
      </p:pic>
      <p:pic>
        <p:nvPicPr>
          <p:cNvPr id="7" name="Picture 6" descr="premium ca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479800"/>
            <a:ext cx="5991225" cy="14001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972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0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Conclusion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74320" y="960120"/>
            <a:ext cx="8595360" cy="658368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960120"/>
            <a:ext cx="54864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88136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960120"/>
            <a:ext cx="786384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Successfully designed and implemented a Motor Insurance Database using MySQL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274320" y="1783080"/>
            <a:ext cx="8595360" cy="658368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74320" y="1783080"/>
            <a:ext cx="54864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11096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68680" y="1783080"/>
            <a:ext cx="786384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All assignment requirements completed (Phase 1 through final submission)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274320" y="2606040"/>
            <a:ext cx="8595360" cy="658368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274320" y="2606040"/>
            <a:ext cx="54864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34056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68680" y="2606040"/>
            <a:ext cx="786384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System is functional and ready for use by small insurance companies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274320" y="3429000"/>
            <a:ext cx="8595360" cy="658368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274320" y="3429000"/>
            <a:ext cx="54864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557016"/>
            <a:ext cx="347472" cy="34747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68680" y="3429000"/>
            <a:ext cx="786384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Valuable learning experience in database design and SQL implementation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274320" y="4297680"/>
            <a:ext cx="8595360" cy="64008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457200" y="4297680"/>
            <a:ext cx="1920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Future Improvements: 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2331720" y="4297680"/>
            <a:ext cx="6400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Reporting module  ·  Login &amp; role-based access system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520440"/>
            <a:ext cx="2743200" cy="27432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36576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9164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You!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457200" y="18973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Get your motor insured</a:t>
            </a:r>
            <a:endParaRPr 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286000" y="2651760"/>
            <a:ext cx="45720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828800" y="3520440"/>
            <a:ext cx="5925820" cy="560705"/>
          </a:xfrm>
          <a:prstGeom prst="rect">
            <a:avLst/>
          </a:prstGeom>
          <a:solidFill>
            <a:srgbClr val="0D2A4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011680" y="3520440"/>
            <a:ext cx="5120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GitHub Link:</a:t>
            </a:r>
            <a:endParaRPr lang="en-US" altLang="en-GB" sz="1200" dirty="0">
              <a:highlight>
                <a:srgbClr val="0000FF"/>
              </a:highlight>
            </a:endParaRPr>
          </a:p>
        </p:txBody>
      </p:sp>
      <p:sp>
        <p:nvSpPr>
          <p:cNvPr id="10" name="Text 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Motor Insurance Database Management System  ·  Database Systems Project  ·  May 2026</a:t>
            </a:r>
            <a:endParaRPr lang="en-US" sz="900" dirty="0"/>
          </a:p>
        </p:txBody>
      </p:sp>
      <p:sp>
        <p:nvSpPr>
          <p:cNvPr id="11" name="Text Box 10"/>
          <p:cNvSpPr txBox="1"/>
          <p:nvPr/>
        </p:nvSpPr>
        <p:spPr>
          <a:xfrm>
            <a:off x="1828800" y="2955290"/>
            <a:ext cx="6391275" cy="344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1200"/>
              <a:t>https://github.com/2025bcs001-Hera/Motor_Insurance-CEDRIC</a:t>
            </a:r>
            <a:endParaRPr lang="en-GB" altLang="en-US" sz="12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7.2,&quot;left&quot;:25.2,&quot;top&quot;:75.6,&quot;width&quot;:673.2}"/>
</p:tagLst>
</file>

<file path=ppt/tags/tag2.xml><?xml version="1.0" encoding="utf-8"?>
<p:tagLst xmlns:p="http://schemas.openxmlformats.org/presentationml/2006/main">
  <p:tag name="KSO_WM_DIAGRAM_VIRTUALLY_FRAME" val="{&quot;height&quot;:277.2,&quot;left&quot;:25.2,&quot;top&quot;:75.6,&quot;width&quot;:673.2}"/>
</p:tagLst>
</file>

<file path=ppt/tags/tag3.xml><?xml version="1.0" encoding="utf-8"?>
<p:tagLst xmlns:p="http://schemas.openxmlformats.org/presentationml/2006/main">
  <p:tag name="KSO_WM_DIAGRAM_VIRTUALLY_FRAME" val="{&quot;height&quot;:277.2,&quot;left&quot;:25.2,&quot;top&quot;:75.6,&quot;width&quot;:673.2}"/>
</p:tagLst>
</file>

<file path=ppt/tags/tag4.xml><?xml version="1.0" encoding="utf-8"?>
<p:tagLst xmlns:p="http://schemas.openxmlformats.org/presentationml/2006/main">
  <p:tag name="KSO_WM_DIAGRAM_VIRTUALLY_FRAME" val="{&quot;height&quot;:277.2,&quot;left&quot;:25.2,&quot;top&quot;:75.6,&quot;width&quot;:673.2}"/>
</p:tagLst>
</file>

<file path=ppt/tags/tag5.xml><?xml version="1.0" encoding="utf-8"?>
<p:tagLst xmlns:p="http://schemas.openxmlformats.org/presentationml/2006/main">
  <p:tag name="KSO_WM_DIAGRAM_VIRTUALLY_FRAME" val="{&quot;height&quot;:277.2,&quot;left&quot;:25.2,&quot;top&quot;:75.6,&quot;width&quot;:673.2}"/>
</p:tagLst>
</file>

<file path=ppt/tags/tag6.xml><?xml version="1.0" encoding="utf-8"?>
<p:tagLst xmlns:p="http://schemas.openxmlformats.org/presentationml/2006/main">
  <p:tag name="KSO_WM_DIAGRAM_VIRTUALLY_FRAME" val="{&quot;height&quot;:277.2,&quot;left&quot;:25.2,&quot;top&quot;:75.6,&quot;width&quot;:673.2}"/>
</p:tagLst>
</file>

<file path=ppt/tags/tag7.xml><?xml version="1.0" encoding="utf-8"?>
<p:tagLst xmlns:p="http://schemas.openxmlformats.org/presentationml/2006/main">
  <p:tag name="KSO_WM_DIAGRAM_VIRTUALLY_FRAME" val="{&quot;height&quot;:277.2,&quot;left&quot;:25.2,&quot;top&quot;:75.6,&quot;width&quot;:673.2}"/>
</p:tagLst>
</file>

<file path=ppt/tags/tag8.xml><?xml version="1.0" encoding="utf-8"?>
<p:tagLst xmlns:p="http://schemas.openxmlformats.org/presentationml/2006/main">
  <p:tag name="KSO_WM_DIAGRAM_VIRTUALLY_FRAME" val="{&quot;height&quot;:277.2,&quot;left&quot;:25.2,&quot;top&quot;:75.6,&quot;width&quot;:673.2}"/>
</p:tagLst>
</file>

<file path=ppt/tags/tag9.xml><?xml version="1.0" encoding="utf-8"?>
<p:tagLst xmlns:p="http://schemas.openxmlformats.org/presentationml/2006/main">
  <p:tag name="KSO_WM_DIAGRAM_VIRTUALLY_FRAME" val="{&quot;height&quot;:277.2,&quot;left&quot;:25.2,&quot;top&quot;:75.6,&quot;width&quot;:673.2}"/>
</p:tagLst>
</file>

<file path=ppt/tags/tag10.xml><?xml version="1.0" encoding="utf-8"?>
<p:tagLst xmlns:p="http://schemas.openxmlformats.org/presentationml/2006/main">
  <p:tag name="KSO_WM_DIAGRAM_VIRTUALLY_FRAME" val="{&quot;height&quot;:277.2,&quot;left&quot;:25.2,&quot;top&quot;:75.6,&quot;width&quot;:673.2}"/>
</p:tagLst>
</file>

<file path=ppt/tags/tag11.xml><?xml version="1.0" encoding="utf-8"?>
<p:tagLst xmlns:p="http://schemas.openxmlformats.org/presentationml/2006/main">
  <p:tag name="KSO_WM_DIAGRAM_VIRTUALLY_FRAME" val="{&quot;height&quot;:277.2,&quot;left&quot;:25.2,&quot;top&quot;:75.6,&quot;width&quot;:673.2}"/>
</p:tagLst>
</file>

<file path=ppt/tags/tag12.xml><?xml version="1.0" encoding="utf-8"?>
<p:tagLst xmlns:p="http://schemas.openxmlformats.org/presentationml/2006/main">
  <p:tag name="KSO_WM_DIAGRAM_VIRTUALLY_FRAME" val="{&quot;height&quot;:277.2,&quot;left&quot;:25.2,&quot;top&quot;:75.6,&quot;width&quot;:673.2}"/>
</p:tagLst>
</file>

<file path=ppt/tags/tag13.xml><?xml version="1.0" encoding="utf-8"?>
<p:tagLst xmlns:p="http://schemas.openxmlformats.org/presentationml/2006/main">
  <p:tag name="KSO_WM_DIAGRAM_VIRTUALLY_FRAME" val="{&quot;height&quot;:277.2,&quot;left&quot;:25.2,&quot;top&quot;:75.6,&quot;width&quot;:673.2}"/>
</p:tagLst>
</file>

<file path=ppt/tags/tag14.xml><?xml version="1.0" encoding="utf-8"?>
<p:tagLst xmlns:p="http://schemas.openxmlformats.org/presentationml/2006/main">
  <p:tag name="KSO_WM_DIAGRAM_VIRTUALLY_FRAME" val="{&quot;height&quot;:277.2,&quot;left&quot;:25.2,&quot;top&quot;:75.6,&quot;width&quot;:673.2}"/>
</p:tagLst>
</file>

<file path=ppt/tags/tag15.xml><?xml version="1.0" encoding="utf-8"?>
<p:tagLst xmlns:p="http://schemas.openxmlformats.org/presentationml/2006/main">
  <p:tag name="KSO_WM_DIAGRAM_VIRTUALLY_FRAME" val="{&quot;height&quot;:277.2,&quot;left&quot;:25.2,&quot;top&quot;:75.6,&quot;width&quot;:673.2}"/>
</p:tagLst>
</file>

<file path=ppt/tags/tag16.xml><?xml version="1.0" encoding="utf-8"?>
<p:tagLst xmlns:p="http://schemas.openxmlformats.org/presentationml/2006/main">
  <p:tag name="KSO_WM_DIAGRAM_VIRTUALLY_FRAME" val="{&quot;height&quot;:277.2,&quot;left&quot;:25.2,&quot;top&quot;:75.6,&quot;width&quot;:673.2}"/>
</p:tagLst>
</file>

<file path=ppt/tags/tag17.xml><?xml version="1.0" encoding="utf-8"?>
<p:tagLst xmlns:p="http://schemas.openxmlformats.org/presentationml/2006/main">
  <p:tag name="KSO_WM_DIAGRAM_VIRTUALLY_FRAME" val="{&quot;height&quot;:277.2,&quot;left&quot;:25.2,&quot;top&quot;:75.6,&quot;width&quot;:673.2}"/>
</p:tagLst>
</file>

<file path=ppt/tags/tag18.xml><?xml version="1.0" encoding="utf-8"?>
<p:tagLst xmlns:p="http://schemas.openxmlformats.org/presentationml/2006/main">
  <p:tag name="KSO_WM_DIAGRAM_VIRTUALLY_FRAME" val="{&quot;height&quot;:277.2,&quot;left&quot;:25.2,&quot;top&quot;:75.6,&quot;width&quot;:673.2}"/>
</p:tagLst>
</file>

<file path=ppt/tags/tag19.xml><?xml version="1.0" encoding="utf-8"?>
<p:tagLst xmlns:p="http://schemas.openxmlformats.org/presentationml/2006/main">
  <p:tag name="KSO_WM_DIAGRAM_VIRTUALLY_FRAME" val="{&quot;height&quot;:277.2,&quot;left&quot;:25.2,&quot;top&quot;:75.6,&quot;width&quot;:673.2}"/>
</p:tagLst>
</file>

<file path=ppt/tags/tag20.xml><?xml version="1.0" encoding="utf-8"?>
<p:tagLst xmlns:p="http://schemas.openxmlformats.org/presentationml/2006/main">
  <p:tag name="KSO_WM_DIAGRAM_VIRTUALLY_FRAME" val="{&quot;height&quot;:277.2,&quot;left&quot;:25.2,&quot;top&quot;:75.6,&quot;width&quot;:673.2}"/>
</p:tagLst>
</file>

<file path=ppt/tags/tag21.xml><?xml version="1.0" encoding="utf-8"?>
<p:tagLst xmlns:p="http://schemas.openxmlformats.org/presentationml/2006/main">
  <p:tag name="KSO_WM_DIAGRAM_VIRTUALLY_FRAME" val="{&quot;height&quot;:277.2,&quot;left&quot;:25.2,&quot;top&quot;:75.6,&quot;width&quot;:673.2}"/>
</p:tagLst>
</file>

<file path=ppt/tags/tag22.xml><?xml version="1.0" encoding="utf-8"?>
<p:tagLst xmlns:p="http://schemas.openxmlformats.org/presentationml/2006/main">
  <p:tag name="KSO_WM_DIAGRAM_VIRTUALLY_FRAME" val="{&quot;height&quot;:277.2,&quot;left&quot;:25.2,&quot;top&quot;:75.6,&quot;width&quot;:673.2}"/>
</p:tagLst>
</file>

<file path=ppt/tags/tag23.xml><?xml version="1.0" encoding="utf-8"?>
<p:tagLst xmlns:p="http://schemas.openxmlformats.org/presentationml/2006/main">
  <p:tag name="KSO_WM_DIAGRAM_VIRTUALLY_FRAME" val="{&quot;height&quot;:277.2,&quot;left&quot;:25.2,&quot;top&quot;:75.6,&quot;width&quot;:673.2}"/>
</p:tagLst>
</file>

<file path=ppt/tags/tag24.xml><?xml version="1.0" encoding="utf-8"?>
<p:tagLst xmlns:p="http://schemas.openxmlformats.org/presentationml/2006/main">
  <p:tag name="KSO_WM_DIAGRAM_VIRTUALLY_FRAME" val="{&quot;height&quot;:277.2,&quot;left&quot;:25.2,&quot;top&quot;:75.6,&quot;width&quot;:673.2}"/>
</p:tagLst>
</file>

<file path=ppt/tags/tag25.xml><?xml version="1.0" encoding="utf-8"?>
<p:tagLst xmlns:p="http://schemas.openxmlformats.org/presentationml/2006/main">
  <p:tag name="KSO_WM_DIAGRAM_VIRTUALLY_FRAME" val="{&quot;height&quot;:277.2,&quot;left&quot;:25.2,&quot;top&quot;:75.6,&quot;width&quot;:673.2}"/>
</p:tagLst>
</file>

<file path=ppt/tags/tag26.xml><?xml version="1.0" encoding="utf-8"?>
<p:tagLst xmlns:p="http://schemas.openxmlformats.org/presentationml/2006/main">
  <p:tag name="KSO_WM_DIAGRAM_VIRTUALLY_FRAME" val="{&quot;height&quot;:277.2,&quot;left&quot;:25.2,&quot;top&quot;:75.6,&quot;width&quot;:673.2}"/>
</p:tagLst>
</file>

<file path=ppt/tags/tag27.xml><?xml version="1.0" encoding="utf-8"?>
<p:tagLst xmlns:p="http://schemas.openxmlformats.org/presentationml/2006/main">
  <p:tag name="KSO_WM_DIAGRAM_VIRTUALLY_FRAME" val="{&quot;height&quot;:277.2,&quot;left&quot;:25.2,&quot;top&quot;:75.6,&quot;width&quot;:673.2}"/>
</p:tagLst>
</file>

<file path=ppt/tags/tag28.xml><?xml version="1.0" encoding="utf-8"?>
<p:tagLst xmlns:p="http://schemas.openxmlformats.org/presentationml/2006/main">
  <p:tag name="KSO_WM_DIAGRAM_VIRTUALLY_FRAME" val="{&quot;height&quot;:277.2,&quot;left&quot;:25.2,&quot;top&quot;:75.6,&quot;width&quot;:673.2}"/>
</p:tagLst>
</file>

<file path=ppt/tags/tag29.xml><?xml version="1.0" encoding="utf-8"?>
<p:tagLst xmlns:p="http://schemas.openxmlformats.org/presentationml/2006/main">
  <p:tag name="KSO_WM_DIAGRAM_VIRTUALLY_FRAME" val="{&quot;height&quot;:277.2,&quot;left&quot;:25.2,&quot;top&quot;:75.6,&quot;width&quot;:673.2}"/>
</p:tagLst>
</file>

<file path=ppt/tags/tag30.xml><?xml version="1.0" encoding="utf-8"?>
<p:tagLst xmlns:p="http://schemas.openxmlformats.org/presentationml/2006/main">
  <p:tag name="KSO_WM_DIAGRAM_VIRTUALLY_FRAME" val="{&quot;height&quot;:277.2,&quot;left&quot;:25.2,&quot;top&quot;:75.6,&quot;width&quot;:673.2}"/>
</p:tagLst>
</file>

<file path=ppt/tags/tag31.xml><?xml version="1.0" encoding="utf-8"?>
<p:tagLst xmlns:p="http://schemas.openxmlformats.org/presentationml/2006/main">
  <p:tag name="KSO_WM_DIAGRAM_VIRTUALLY_FRAME" val="{&quot;height&quot;:295.2,&quot;left&quot;:21.6,&quot;top&quot;:72,&quot;width&quot;:676.8}"/>
</p:tagLst>
</file>

<file path=ppt/tags/tag32.xml><?xml version="1.0" encoding="utf-8"?>
<p:tagLst xmlns:p="http://schemas.openxmlformats.org/presentationml/2006/main">
  <p:tag name="KSO_WM_DIAGRAM_VIRTUALLY_FRAME" val="{&quot;height&quot;:295.2,&quot;left&quot;:21.6,&quot;top&quot;:72,&quot;width&quot;:676.8}"/>
</p:tagLst>
</file>

<file path=ppt/tags/tag33.xml><?xml version="1.0" encoding="utf-8"?>
<p:tagLst xmlns:p="http://schemas.openxmlformats.org/presentationml/2006/main">
  <p:tag name="KSO_WM_DIAGRAM_VIRTUALLY_FRAME" val="{&quot;height&quot;:295.2,&quot;left&quot;:21.6,&quot;top&quot;:72,&quot;width&quot;:676.8}"/>
</p:tagLst>
</file>

<file path=ppt/tags/tag34.xml><?xml version="1.0" encoding="utf-8"?>
<p:tagLst xmlns:p="http://schemas.openxmlformats.org/presentationml/2006/main">
  <p:tag name="KSO_WM_DIAGRAM_VIRTUALLY_FRAME" val="{&quot;height&quot;:295.2,&quot;left&quot;:21.6,&quot;top&quot;:72,&quot;width&quot;:676.8}"/>
</p:tagLst>
</file>

<file path=ppt/tags/tag35.xml><?xml version="1.0" encoding="utf-8"?>
<p:tagLst xmlns:p="http://schemas.openxmlformats.org/presentationml/2006/main">
  <p:tag name="KSO_WM_DIAGRAM_VIRTUALLY_FRAME" val="{&quot;height&quot;:295.2,&quot;left&quot;:21.6,&quot;top&quot;:72,&quot;width&quot;:676.8}"/>
</p:tagLst>
</file>

<file path=ppt/tags/tag36.xml><?xml version="1.0" encoding="utf-8"?>
<p:tagLst xmlns:p="http://schemas.openxmlformats.org/presentationml/2006/main">
  <p:tag name="KSO_WM_DIAGRAM_VIRTUALLY_FRAME" val="{&quot;height&quot;:295.2,&quot;left&quot;:21.6,&quot;top&quot;:72,&quot;width&quot;:676.8}"/>
</p:tagLst>
</file>

<file path=ppt/tags/tag37.xml><?xml version="1.0" encoding="utf-8"?>
<p:tagLst xmlns:p="http://schemas.openxmlformats.org/presentationml/2006/main">
  <p:tag name="KSO_WM_DIAGRAM_VIRTUALLY_FRAME" val="{&quot;height&quot;:295.2,&quot;left&quot;:21.6,&quot;top&quot;:72,&quot;width&quot;:676.8}"/>
</p:tagLst>
</file>

<file path=ppt/tags/tag38.xml><?xml version="1.0" encoding="utf-8"?>
<p:tagLst xmlns:p="http://schemas.openxmlformats.org/presentationml/2006/main">
  <p:tag name="KSO_WM_DIAGRAM_VIRTUALLY_FRAME" val="{&quot;height&quot;:295.2,&quot;left&quot;:21.6,&quot;top&quot;:72,&quot;width&quot;:676.8}"/>
</p:tagLst>
</file>

<file path=ppt/tags/tag39.xml><?xml version="1.0" encoding="utf-8"?>
<p:tagLst xmlns:p="http://schemas.openxmlformats.org/presentationml/2006/main">
  <p:tag name="KSO_WM_DIAGRAM_VIRTUALLY_FRAME" val="{&quot;height&quot;:295.2,&quot;left&quot;:21.6,&quot;top&quot;:72,&quot;width&quot;:676.8}"/>
</p:tagLst>
</file>

<file path=ppt/tags/tag40.xml><?xml version="1.0" encoding="utf-8"?>
<p:tagLst xmlns:p="http://schemas.openxmlformats.org/presentationml/2006/main">
  <p:tag name="KSO_WM_DIAGRAM_VIRTUALLY_FRAME" val="{&quot;height&quot;:295.2,&quot;left&quot;:21.6,&quot;top&quot;:72,&quot;width&quot;:676.8}"/>
</p:tagLst>
</file>

<file path=ppt/tags/tag41.xml><?xml version="1.0" encoding="utf-8"?>
<p:tagLst xmlns:p="http://schemas.openxmlformats.org/presentationml/2006/main">
  <p:tag name="KSO_WM_DIAGRAM_VIRTUALLY_FRAME" val="{&quot;height&quot;:295.2,&quot;left&quot;:21.6,&quot;top&quot;:72,&quot;width&quot;:676.8}"/>
</p:tagLst>
</file>

<file path=ppt/tags/tag42.xml><?xml version="1.0" encoding="utf-8"?>
<p:tagLst xmlns:p="http://schemas.openxmlformats.org/presentationml/2006/main">
  <p:tag name="KSO_WM_DIAGRAM_VIRTUALLY_FRAME" val="{&quot;height&quot;:295.2,&quot;left&quot;:21.6,&quot;top&quot;:72,&quot;width&quot;:676.8}"/>
</p:tagLst>
</file>

<file path=ppt/tags/tag43.xml><?xml version="1.0" encoding="utf-8"?>
<p:tagLst xmlns:p="http://schemas.openxmlformats.org/presentationml/2006/main">
  <p:tag name="KSO_WM_DIAGRAM_VIRTUALLY_FRAME" val="{&quot;height&quot;:295.2,&quot;left&quot;:21.6,&quot;top&quot;:72,&quot;width&quot;:676.8}"/>
</p:tagLst>
</file>

<file path=ppt/tags/tag44.xml><?xml version="1.0" encoding="utf-8"?>
<p:tagLst xmlns:p="http://schemas.openxmlformats.org/presentationml/2006/main">
  <p:tag name="KSO_WM_DIAGRAM_VIRTUALLY_FRAME" val="{&quot;height&quot;:295.2,&quot;left&quot;:21.6,&quot;top&quot;:72,&quot;width&quot;:676.8}"/>
</p:tagLst>
</file>

<file path=ppt/tags/tag45.xml><?xml version="1.0" encoding="utf-8"?>
<p:tagLst xmlns:p="http://schemas.openxmlformats.org/presentationml/2006/main">
  <p:tag name="KSO_WM_DIAGRAM_VIRTUALLY_FRAME" val="{&quot;height&quot;:295.2,&quot;left&quot;:21.6,&quot;top&quot;:72,&quot;width&quot;:676.8}"/>
</p:tagLst>
</file>

<file path=ppt/tags/tag46.xml><?xml version="1.0" encoding="utf-8"?>
<p:tagLst xmlns:p="http://schemas.openxmlformats.org/presentationml/2006/main">
  <p:tag name="KSO_WM_DIAGRAM_VIRTUALLY_FRAME" val="{&quot;height&quot;:295.2,&quot;left&quot;:21.6,&quot;top&quot;:72,&quot;width&quot;:676.8}"/>
</p:tagLst>
</file>

<file path=ppt/tags/tag47.xml><?xml version="1.0" encoding="utf-8"?>
<p:tagLst xmlns:p="http://schemas.openxmlformats.org/presentationml/2006/main">
  <p:tag name="KSO_WM_DIAGRAM_VIRTUALLY_FRAME" val="{&quot;height&quot;:295.2,&quot;left&quot;:21.6,&quot;top&quot;:72,&quot;width&quot;:676.8}"/>
</p:tagLst>
</file>

<file path=ppt/tags/tag48.xml><?xml version="1.0" encoding="utf-8"?>
<p:tagLst xmlns:p="http://schemas.openxmlformats.org/presentationml/2006/main">
  <p:tag name="KSO_WM_DIAGRAM_VIRTUALLY_FRAME" val="{&quot;height&quot;:295.2,&quot;left&quot;:21.6,&quot;top&quot;:72,&quot;width&quot;:676.8}"/>
</p:tagLst>
</file>

<file path=ppt/tags/tag49.xml><?xml version="1.0" encoding="utf-8"?>
<p:tagLst xmlns:p="http://schemas.openxmlformats.org/presentationml/2006/main">
  <p:tag name="KSO_WM_DIAGRAM_VIRTUALLY_FRAME" val="{&quot;height&quot;:295.2,&quot;left&quot;:21.6,&quot;top&quot;:72,&quot;width&quot;:676.8}"/>
</p:tagLst>
</file>

<file path=ppt/tags/tag50.xml><?xml version="1.0" encoding="utf-8"?>
<p:tagLst xmlns:p="http://schemas.openxmlformats.org/presentationml/2006/main">
  <p:tag name="KSO_WM_DIAGRAM_VIRTUALLY_FRAME" val="{&quot;height&quot;:295.2,&quot;left&quot;:21.6,&quot;top&quot;:72,&quot;width&quot;:676.8}"/>
</p:tagLst>
</file>

<file path=ppt/tags/tag51.xml><?xml version="1.0" encoding="utf-8"?>
<p:tagLst xmlns:p="http://schemas.openxmlformats.org/presentationml/2006/main">
  <p:tag name="KSO_WM_DIAGRAM_VIRTUALLY_FRAME" val="{&quot;height&quot;:226.8,&quot;left&quot;:21.6,&quot;top&quot;:126,&quot;width&quot;:676.8}"/>
</p:tagLst>
</file>

<file path=ppt/tags/tag52.xml><?xml version="1.0" encoding="utf-8"?>
<p:tagLst xmlns:p="http://schemas.openxmlformats.org/presentationml/2006/main">
  <p:tag name="KSO_WM_DIAGRAM_VIRTUALLY_FRAME" val="{&quot;height&quot;:226.8,&quot;left&quot;:21.6,&quot;top&quot;:126,&quot;width&quot;:676.8}"/>
</p:tagLst>
</file>

<file path=ppt/tags/tag53.xml><?xml version="1.0" encoding="utf-8"?>
<p:tagLst xmlns:p="http://schemas.openxmlformats.org/presentationml/2006/main">
  <p:tag name="KSO_WM_DIAGRAM_VIRTUALLY_FRAME" val="{&quot;height&quot;:226.8,&quot;left&quot;:21.6,&quot;top&quot;:126,&quot;width&quot;:676.8}"/>
</p:tagLst>
</file>

<file path=ppt/tags/tag54.xml><?xml version="1.0" encoding="utf-8"?>
<p:tagLst xmlns:p="http://schemas.openxmlformats.org/presentationml/2006/main">
  <p:tag name="KSO_WM_DIAGRAM_VIRTUALLY_FRAME" val="{&quot;height&quot;:226.8,&quot;left&quot;:21.6,&quot;top&quot;:126,&quot;width&quot;:676.8}"/>
</p:tagLst>
</file>

<file path=ppt/tags/tag55.xml><?xml version="1.0" encoding="utf-8"?>
<p:tagLst xmlns:p="http://schemas.openxmlformats.org/presentationml/2006/main">
  <p:tag name="KSO_WM_DIAGRAM_VIRTUALLY_FRAME" val="{&quot;height&quot;:226.8,&quot;left&quot;:21.6,&quot;top&quot;:126,&quot;width&quot;:676.8}"/>
</p:tagLst>
</file>

<file path=ppt/tags/tag56.xml><?xml version="1.0" encoding="utf-8"?>
<p:tagLst xmlns:p="http://schemas.openxmlformats.org/presentationml/2006/main">
  <p:tag name="KSO_WM_DIAGRAM_VIRTUALLY_FRAME" val="{&quot;height&quot;:226.8,&quot;left&quot;:21.6,&quot;top&quot;:126,&quot;width&quot;:676.8}"/>
</p:tagLst>
</file>

<file path=ppt/tags/tag57.xml><?xml version="1.0" encoding="utf-8"?>
<p:tagLst xmlns:p="http://schemas.openxmlformats.org/presentationml/2006/main">
  <p:tag name="KSO_WM_DIAGRAM_VIRTUALLY_FRAME" val="{&quot;height&quot;:226.8,&quot;left&quot;:21.6,&quot;top&quot;:126,&quot;width&quot;:676.8}"/>
</p:tagLst>
</file>

<file path=ppt/tags/tag58.xml><?xml version="1.0" encoding="utf-8"?>
<p:tagLst xmlns:p="http://schemas.openxmlformats.org/presentationml/2006/main">
  <p:tag name="KSO_WM_DIAGRAM_VIRTUALLY_FRAME" val="{&quot;height&quot;:226.8,&quot;left&quot;:21.6,&quot;top&quot;:126,&quot;width&quot;:676.8}"/>
</p:tagLst>
</file>

<file path=ppt/tags/tag59.xml><?xml version="1.0" encoding="utf-8"?>
<p:tagLst xmlns:p="http://schemas.openxmlformats.org/presentationml/2006/main">
  <p:tag name="KSO_WM_DIAGRAM_VIRTUALLY_FRAME" val="{&quot;height&quot;:270.65,&quot;left&quot;:21.6,&quot;top&quot;:100.8,&quot;width&quot;:676.8}"/>
</p:tagLst>
</file>

<file path=ppt/tags/tag60.xml><?xml version="1.0" encoding="utf-8"?>
<p:tagLst xmlns:p="http://schemas.openxmlformats.org/presentationml/2006/main">
  <p:tag name="KSO_WM_DIAGRAM_VIRTUALLY_FRAME" val="{&quot;height&quot;:270.65,&quot;left&quot;:21.6,&quot;top&quot;:100.8,&quot;width&quot;:676.8}"/>
</p:tagLst>
</file>

<file path=ppt/tags/tag61.xml><?xml version="1.0" encoding="utf-8"?>
<p:tagLst xmlns:p="http://schemas.openxmlformats.org/presentationml/2006/main">
  <p:tag name="KSO_WM_DIAGRAM_VIRTUALLY_FRAME" val="{&quot;height&quot;:270.65,&quot;left&quot;:21.6,&quot;top&quot;:100.8,&quot;width&quot;:676.8}"/>
</p:tagLst>
</file>

<file path=ppt/tags/tag62.xml><?xml version="1.0" encoding="utf-8"?>
<p:tagLst xmlns:p="http://schemas.openxmlformats.org/presentationml/2006/main">
  <p:tag name="KSO_WM_DIAGRAM_VIRTUALLY_FRAME" val="{&quot;height&quot;:270.65,&quot;left&quot;:21.6,&quot;top&quot;:100.8,&quot;width&quot;:676.8}"/>
</p:tagLst>
</file>

<file path=ppt/tags/tag63.xml><?xml version="1.0" encoding="utf-8"?>
<p:tagLst xmlns:p="http://schemas.openxmlformats.org/presentationml/2006/main">
  <p:tag name="KSO_WM_DIAGRAM_VIRTUALLY_FRAME" val="{&quot;height&quot;:270.65,&quot;left&quot;:21.6,&quot;top&quot;:100.8,&quot;width&quot;:676.8}"/>
</p:tagLst>
</file>

<file path=ppt/tags/tag64.xml><?xml version="1.0" encoding="utf-8"?>
<p:tagLst xmlns:p="http://schemas.openxmlformats.org/presentationml/2006/main">
  <p:tag name="KSO_WM_DIAGRAM_VIRTUALLY_FRAME" val="{&quot;height&quot;:270.65,&quot;left&quot;:21.6,&quot;top&quot;:100.8,&quot;width&quot;:676.8}"/>
</p:tagLst>
</file>

<file path=ppt/tags/tag65.xml><?xml version="1.0" encoding="utf-8"?>
<p:tagLst xmlns:p="http://schemas.openxmlformats.org/presentationml/2006/main">
  <p:tag name="KSO_WM_DIAGRAM_VIRTUALLY_FRAME" val="{&quot;height&quot;:270.65,&quot;left&quot;:21.6,&quot;top&quot;:100.8,&quot;width&quot;:676.8}"/>
</p:tagLst>
</file>

<file path=ppt/tags/tag66.xml><?xml version="1.0" encoding="utf-8"?>
<p:tagLst xmlns:p="http://schemas.openxmlformats.org/presentationml/2006/main">
  <p:tag name="KSO_WM_DIAGRAM_VIRTUALLY_FRAME" val="{&quot;height&quot;:270.65,&quot;left&quot;:21.6,&quot;top&quot;:100.8,&quot;width&quot;:676.8}"/>
</p:tagLst>
</file>

<file path=ppt/tags/tag67.xml><?xml version="1.0" encoding="utf-8"?>
<p:tagLst xmlns:p="http://schemas.openxmlformats.org/presentationml/2006/main">
  <p:tag name="KSO_WM_DIAGRAM_VIRTUALLY_FRAME" val="{&quot;height&quot;:270.65,&quot;left&quot;:21.6,&quot;top&quot;:100.8,&quot;width&quot;:676.8}"/>
</p:tagLst>
</file>

<file path=ppt/tags/tag68.xml><?xml version="1.0" encoding="utf-8"?>
<p:tagLst xmlns:p="http://schemas.openxmlformats.org/presentationml/2006/main">
  <p:tag name="KSO_WM_DIAGRAM_VIRTUALLY_FRAME" val="{&quot;height&quot;:270.65,&quot;left&quot;:21.6,&quot;top&quot;:100.8,&quot;width&quot;:676.8}"/>
</p:tagLst>
</file>

<file path=ppt/tags/tag69.xml><?xml version="1.0" encoding="utf-8"?>
<p:tagLst xmlns:p="http://schemas.openxmlformats.org/presentationml/2006/main">
  <p:tag name="KSO_WM_DIAGRAM_VIRTUALLY_FRAME" val="{&quot;height&quot;:270.65,&quot;left&quot;:21.6,&quot;top&quot;:100.8,&quot;width&quot;:676.8}"/>
</p:tagLst>
</file>

<file path=ppt/tags/tag70.xml><?xml version="1.0" encoding="utf-8"?>
<p:tagLst xmlns:p="http://schemas.openxmlformats.org/presentationml/2006/main">
  <p:tag name="KSO_WM_DIAGRAM_VIRTUALLY_FRAME" val="{&quot;height&quot;:270.65,&quot;left&quot;:21.6,&quot;top&quot;:100.8,&quot;width&quot;:676.8}"/>
</p:tagLst>
</file>

<file path=ppt/tags/tag71.xml><?xml version="1.0" encoding="utf-8"?>
<p:tagLst xmlns:p="http://schemas.openxmlformats.org/presentationml/2006/main">
  <p:tag name="KSO_WM_DIAGRAM_VIRTUALLY_FRAME" val="{&quot;height&quot;:270.65,&quot;left&quot;:21.6,&quot;top&quot;:100.8,&quot;width&quot;:676.8}"/>
</p:tagLst>
</file>

<file path=ppt/tags/tag72.xml><?xml version="1.0" encoding="utf-8"?>
<p:tagLst xmlns:p="http://schemas.openxmlformats.org/presentationml/2006/main">
  <p:tag name="KSO_WM_DIAGRAM_VIRTUALLY_FRAME" val="{&quot;height&quot;:270.65,&quot;left&quot;:21.6,&quot;top&quot;:100.8,&quot;width&quot;:676.8}"/>
</p:tagLst>
</file>

<file path=ppt/tags/tag73.xml><?xml version="1.0" encoding="utf-8"?>
<p:tagLst xmlns:p="http://schemas.openxmlformats.org/presentationml/2006/main">
  <p:tag name="KSO_WM_DIAGRAM_VIRTUALLY_FRAME" val="{&quot;height&quot;:270.65,&quot;left&quot;:21.6,&quot;top&quot;:100.8,&quot;width&quot;:676.8}"/>
</p:tagLst>
</file>

<file path=ppt/tags/tag74.xml><?xml version="1.0" encoding="utf-8"?>
<p:tagLst xmlns:p="http://schemas.openxmlformats.org/presentationml/2006/main">
  <p:tag name="KSO_WM_DIAGRAM_VIRTUALLY_FRAME" val="{&quot;height&quot;:270.65,&quot;left&quot;:21.6,&quot;top&quot;:100.8,&quot;width&quot;:676.8}"/>
</p:tagLst>
</file>

<file path=ppt/tags/tag75.xml><?xml version="1.0" encoding="utf-8"?>
<p:tagLst xmlns:p="http://schemas.openxmlformats.org/presentationml/2006/main">
  <p:tag name="KSO_WM_DIAGRAM_VIRTUALLY_FRAME" val="{&quot;height&quot;:270.65,&quot;left&quot;:21.6,&quot;top&quot;:100.8,&quot;width&quot;:676.8}"/>
</p:tagLst>
</file>

<file path=ppt/tags/tag76.xml><?xml version="1.0" encoding="utf-8"?>
<p:tagLst xmlns:p="http://schemas.openxmlformats.org/presentationml/2006/main">
  <p:tag name="KSO_WM_DIAGRAM_VIRTUALLY_FRAME" val="{&quot;height&quot;:270.65,&quot;left&quot;:21.6,&quot;top&quot;:100.8,&quot;width&quot;:676.8}"/>
</p:tagLst>
</file>

<file path=ppt/tags/tag77.xml><?xml version="1.0" encoding="utf-8"?>
<p:tagLst xmlns:p="http://schemas.openxmlformats.org/presentationml/2006/main">
  <p:tag name="KSO_WM_DIAGRAM_VIRTUALLY_FRAME" val="{&quot;height&quot;:291.6,&quot;left&quot;:21.6,&quot;top&quot;:72,&quot;width&quot;:676.8}"/>
</p:tagLst>
</file>

<file path=ppt/tags/tag78.xml><?xml version="1.0" encoding="utf-8"?>
<p:tagLst xmlns:p="http://schemas.openxmlformats.org/presentationml/2006/main">
  <p:tag name="KSO_WM_DIAGRAM_VIRTUALLY_FRAME" val="{&quot;height&quot;:291.6,&quot;left&quot;:21.6,&quot;top&quot;:72,&quot;width&quot;:676.8}"/>
</p:tagLst>
</file>

<file path=ppt/tags/tag79.xml><?xml version="1.0" encoding="utf-8"?>
<p:tagLst xmlns:p="http://schemas.openxmlformats.org/presentationml/2006/main">
  <p:tag name="KSO_WM_DIAGRAM_VIRTUALLY_FRAME" val="{&quot;height&quot;:291.6,&quot;left&quot;:21.6,&quot;top&quot;:72,&quot;width&quot;:676.8}"/>
</p:tagLst>
</file>

<file path=ppt/tags/tag80.xml><?xml version="1.0" encoding="utf-8"?>
<p:tagLst xmlns:p="http://schemas.openxmlformats.org/presentationml/2006/main">
  <p:tag name="KSO_WM_DIAGRAM_VIRTUALLY_FRAME" val="{&quot;height&quot;:291.6,&quot;left&quot;:21.6,&quot;top&quot;:72,&quot;width&quot;:676.8}"/>
</p:tagLst>
</file>

<file path=ppt/tags/tag81.xml><?xml version="1.0" encoding="utf-8"?>
<p:tagLst xmlns:p="http://schemas.openxmlformats.org/presentationml/2006/main">
  <p:tag name="KSO_WM_DIAGRAM_VIRTUALLY_FRAME" val="{&quot;height&quot;:291.6,&quot;left&quot;:21.6,&quot;top&quot;:72,&quot;width&quot;:676.8}"/>
</p:tagLst>
</file>

<file path=ppt/tags/tag82.xml><?xml version="1.0" encoding="utf-8"?>
<p:tagLst xmlns:p="http://schemas.openxmlformats.org/presentationml/2006/main">
  <p:tag name="KSO_WM_DIAGRAM_VIRTUALLY_FRAME" val="{&quot;height&quot;:291.6,&quot;left&quot;:21.6,&quot;top&quot;:72,&quot;width&quot;:676.8}"/>
</p:tagLst>
</file>

<file path=ppt/tags/tag83.xml><?xml version="1.0" encoding="utf-8"?>
<p:tagLst xmlns:p="http://schemas.openxmlformats.org/presentationml/2006/main">
  <p:tag name="KSO_WM_DIAGRAM_VIRTUALLY_FRAME" val="{&quot;height&quot;:291.6,&quot;left&quot;:21.6,&quot;top&quot;:72,&quot;width&quot;:676.8}"/>
</p:tagLst>
</file>

<file path=ppt/tags/tag84.xml><?xml version="1.0" encoding="utf-8"?>
<p:tagLst xmlns:p="http://schemas.openxmlformats.org/presentationml/2006/main">
  <p:tag name="KSO_WM_DIAGRAM_VIRTUALLY_FRAME" val="{&quot;height&quot;:291.6,&quot;left&quot;:21.6,&quot;top&quot;:72,&quot;width&quot;:676.8}"/>
</p:tagLst>
</file>

<file path=ppt/tags/tag85.xml><?xml version="1.0" encoding="utf-8"?>
<p:tagLst xmlns:p="http://schemas.openxmlformats.org/presentationml/2006/main">
  <p:tag name="KSO_WM_DIAGRAM_VIRTUALLY_FRAME" val="{&quot;height&quot;:291.6,&quot;left&quot;:21.6,&quot;top&quot;:72,&quot;width&quot;:676.8}"/>
</p:tagLst>
</file>

<file path=ppt/tags/tag86.xml><?xml version="1.0" encoding="utf-8"?>
<p:tagLst xmlns:p="http://schemas.openxmlformats.org/presentationml/2006/main">
  <p:tag name="KSO_WM_DIAGRAM_VIRTUALLY_FRAME" val="{&quot;height&quot;:291.6,&quot;left&quot;:21.6,&quot;top&quot;:72,&quot;width&quot;:676.8}"/>
</p:tagLst>
</file>

<file path=ppt/tags/tag87.xml><?xml version="1.0" encoding="utf-8"?>
<p:tagLst xmlns:p="http://schemas.openxmlformats.org/presentationml/2006/main">
  <p:tag name="KSO_WM_DIAGRAM_VIRTUALLY_FRAME" val="{&quot;height&quot;:291.6,&quot;left&quot;:21.6,&quot;top&quot;:72,&quot;width&quot;:676.8}"/>
</p:tagLst>
</file>

<file path=ppt/tags/tag88.xml><?xml version="1.0" encoding="utf-8"?>
<p:tagLst xmlns:p="http://schemas.openxmlformats.org/presentationml/2006/main">
  <p:tag name="KSO_WM_DIAGRAM_VIRTUALLY_FRAME" val="{&quot;height&quot;:291.6,&quot;left&quot;:21.6,&quot;top&quot;:72,&quot;width&quot;:676.8}"/>
</p:tagLst>
</file>

<file path=ppt/theme/theme1.xml><?xml version="1.0" encoding="utf-8"?>
<a:theme xmlns:a="http://schemas.openxmlformats.org/drawingml/2006/main" name="Gear Drives">
  <a:themeElements>
    <a:clrScheme name="Gear Dri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5F5F5F"/>
      </a:accent1>
      <a:accent2>
        <a:srgbClr val="969696"/>
      </a:accent2>
      <a:accent3>
        <a:srgbClr val="FFFFFF"/>
      </a:accent3>
      <a:accent4>
        <a:srgbClr val="000000"/>
      </a:accent4>
      <a:accent5>
        <a:srgbClr val="B6B6B6"/>
      </a:accent5>
      <a:accent6>
        <a:srgbClr val="878787"/>
      </a:accent6>
      <a:hlink>
        <a:srgbClr val="CC3300"/>
      </a:hlink>
      <a:folHlink>
        <a:srgbClr val="996600"/>
      </a:folHlink>
    </a:clrScheme>
    <a:fontScheme name="Gear Dri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ear Dri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5F5F5F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B6B6B6"/>
        </a:accent5>
        <a:accent6>
          <a:srgbClr val="87878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3496</Words>
  <Application>WPS Presentation</Application>
  <PresentationFormat>On-screen Show (16:9)</PresentationFormat>
  <Paragraphs>261</Paragraphs>
  <Slides>17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Arial</vt:lpstr>
      <vt:lpstr>SimSun</vt:lpstr>
      <vt:lpstr>Wingdings</vt:lpstr>
      <vt:lpstr>Consolas</vt:lpstr>
      <vt:lpstr>Consolas</vt:lpstr>
      <vt:lpstr>Consolas</vt:lpstr>
      <vt:lpstr>Calibri</vt:lpstr>
      <vt:lpstr>Microsoft YaHei</vt:lpstr>
      <vt:lpstr>Arial Unicode MS</vt:lpstr>
      <vt:lpstr>Gear Drives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Motor Insurance Database Management System</dc:title>
  <dc:creator>PptxGenJS</dc:creator>
  <dc:subject>PptxGenJS Presentation</dc:subject>
  <cp:lastModifiedBy>CEDRIC STATESMAN</cp:lastModifiedBy>
  <cp:revision>6</cp:revision>
  <dcterms:created xsi:type="dcterms:W3CDTF">2026-05-05T08:33:00Z</dcterms:created>
  <dcterms:modified xsi:type="dcterms:W3CDTF">2026-05-05T10:00:41Z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138BE517C99A4C58A4A0927C68E2679D_13</vt:lpwstr>
  </property>
  <property fmtid="{D5CDD505-2E9C-101B-9397-08002B2CF9AE}" pid="3" name="KSOProductBuildVer">
    <vt:lpwstr>2057-12.2.0.23202</vt:lpwstr>
  </property>
</Properties>
</file>